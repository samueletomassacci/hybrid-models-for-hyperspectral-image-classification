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 id="2147483726" r:id="rId2"/>
  </p:sldMasterIdLst>
  <p:notesMasterIdLst>
    <p:notesMasterId r:id="rId14"/>
  </p:notesMasterIdLst>
  <p:sldIdLst>
    <p:sldId id="256" r:id="rId3"/>
    <p:sldId id="259" r:id="rId4"/>
    <p:sldId id="260" r:id="rId5"/>
    <p:sldId id="261" r:id="rId6"/>
    <p:sldId id="262" r:id="rId7"/>
    <p:sldId id="263" r:id="rId8"/>
    <p:sldId id="264" r:id="rId9"/>
    <p:sldId id="265" r:id="rId10"/>
    <p:sldId id="266" r:id="rId11"/>
    <p:sldId id="267" r:id="rId12"/>
    <p:sldId id="270" r:id="rId1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2433"/>
    <a:srgbClr val="D9D9D9"/>
    <a:srgbClr val="042433"/>
    <a:srgbClr val="D16863"/>
    <a:srgbClr val="882635"/>
    <a:srgbClr val="6B3B5A"/>
    <a:srgbClr val="CC524C"/>
    <a:srgbClr val="F0CE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38" autoAdjust="0"/>
    <p:restoredTop sz="94660"/>
  </p:normalViewPr>
  <p:slideViewPr>
    <p:cSldViewPr snapToGrid="0">
      <p:cViewPr varScale="1">
        <p:scale>
          <a:sx n="105" d="100"/>
          <a:sy n="105" d="100"/>
        </p:scale>
        <p:origin x="104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02T13:05:15.54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0,'5538'4754,"-5529"-4746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F4CB3B-2D8E-4C1A-BE28-3BE8277964C6}" type="datetimeFigureOut">
              <a:rPr lang="en-GB" smtClean="0"/>
              <a:t>03/02/2026</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F1A6B4-E27F-4EA5-BC0D-276C2C9A4088}" type="slidenum">
              <a:rPr lang="en-GB" smtClean="0"/>
              <a:t>‹N›</a:t>
            </a:fld>
            <a:endParaRPr lang="en-GB"/>
          </a:p>
        </p:txBody>
      </p:sp>
    </p:spTree>
    <p:extLst>
      <p:ext uri="{BB962C8B-B14F-4D97-AF65-F5344CB8AC3E}">
        <p14:creationId xmlns:p14="http://schemas.microsoft.com/office/powerpoint/2010/main" val="4190542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dirty="0"/>
              <a:t>Click to edit Master title style</a:t>
            </a:r>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0E825F28-D436-47EF-AAA4-26AE335F1724}" type="datetime1">
              <a:rPr lang="en-GB" smtClean="0"/>
              <a:t>03/02/2026</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312CC964-A50B-4C29-B4E4-2C30BB34CCF3}" type="slidenum">
              <a:rPr lang="en-US" smtClean="0"/>
              <a:t>‹N›</a:t>
            </a:fld>
            <a:endParaRPr lang="en-US"/>
          </a:p>
        </p:txBody>
      </p:sp>
    </p:spTree>
    <p:extLst>
      <p:ext uri="{BB962C8B-B14F-4D97-AF65-F5344CB8AC3E}">
        <p14:creationId xmlns:p14="http://schemas.microsoft.com/office/powerpoint/2010/main" val="1497014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B98FB96E-261B-437F-8F62-A119170A4E3E}" type="datetime1">
              <a:rPr lang="en-GB" smtClean="0"/>
              <a:t>03/02/2026</a:t>
            </a:fld>
            <a:endParaRPr lang="en-US" dirty="0"/>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312CC964-A50B-4C29-B4E4-2C30BB34CCF3}" type="slidenum">
              <a:rPr lang="en-US" smtClean="0"/>
              <a:t>‹N›</a:t>
            </a:fld>
            <a:endParaRPr lang="en-US"/>
          </a:p>
        </p:txBody>
      </p:sp>
    </p:spTree>
    <p:extLst>
      <p:ext uri="{BB962C8B-B14F-4D97-AF65-F5344CB8AC3E}">
        <p14:creationId xmlns:p14="http://schemas.microsoft.com/office/powerpoint/2010/main" val="3127363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5067C40D-74B7-43C1-B156-95ED426969EE}" type="datetime1">
              <a:rPr lang="en-GB" smtClean="0"/>
              <a:t>03/02/2026</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312CC964-A50B-4C29-B4E4-2C30BB34CCF3}" type="slidenum">
              <a:rPr lang="en-US" smtClean="0"/>
              <a:t>‹N›</a:t>
            </a:fld>
            <a:endParaRPr lang="en-US"/>
          </a:p>
        </p:txBody>
      </p:sp>
    </p:spTree>
    <p:extLst>
      <p:ext uri="{BB962C8B-B14F-4D97-AF65-F5344CB8AC3E}">
        <p14:creationId xmlns:p14="http://schemas.microsoft.com/office/powerpoint/2010/main" val="3722333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CE91C7D9-8ECB-4961-8C05-EE4087C4CAEB}" type="datetime1">
              <a:rPr lang="en-GB" smtClean="0"/>
              <a:t>03/02/2026</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312CC964-A50B-4C29-B4E4-2C30BB34CCF3}" type="slidenum">
              <a:rPr lang="en-US" smtClean="0"/>
              <a:t>‹N›</a:t>
            </a:fld>
            <a:endParaRPr lang="en-US"/>
          </a:p>
        </p:txBody>
      </p:sp>
    </p:spTree>
    <p:extLst>
      <p:ext uri="{BB962C8B-B14F-4D97-AF65-F5344CB8AC3E}">
        <p14:creationId xmlns:p14="http://schemas.microsoft.com/office/powerpoint/2010/main" val="2065537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9D7986C1-8F53-467A-988F-90BE5C3EAE36}" type="datetime1">
              <a:rPr lang="en-GB" smtClean="0"/>
              <a:t>03/02/2026</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312CC964-A50B-4C29-B4E4-2C30BB34CCF3}" type="slidenum">
              <a:rPr lang="en-US" smtClean="0"/>
              <a:t>‹N›</a:t>
            </a:fld>
            <a:endParaRPr lang="en-US"/>
          </a:p>
        </p:txBody>
      </p:sp>
    </p:spTree>
    <p:extLst>
      <p:ext uri="{BB962C8B-B14F-4D97-AF65-F5344CB8AC3E}">
        <p14:creationId xmlns:p14="http://schemas.microsoft.com/office/powerpoint/2010/main" val="620007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3C02BDB1-8F4B-41D6-8F12-B6E1F23E6EC0}" type="datetime1">
              <a:rPr lang="en-GB" smtClean="0"/>
              <a:t>03/02/2026</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312CC964-A50B-4C29-B4E4-2C30BB34CCF3}" type="slidenum">
              <a:rPr lang="en-US" smtClean="0"/>
              <a:t>‹N›</a:t>
            </a:fld>
            <a:endParaRPr lang="en-US"/>
          </a:p>
        </p:txBody>
      </p:sp>
    </p:spTree>
    <p:extLst>
      <p:ext uri="{BB962C8B-B14F-4D97-AF65-F5344CB8AC3E}">
        <p14:creationId xmlns:p14="http://schemas.microsoft.com/office/powerpoint/2010/main" val="1921987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31804123-DC89-4160-860A-F144852EAE27}" type="datetime1">
              <a:rPr lang="en-GB" smtClean="0"/>
              <a:t>03/02/2026</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312CC964-A50B-4C29-B4E4-2C30BB34CCF3}" type="slidenum">
              <a:rPr lang="en-US" smtClean="0"/>
              <a:t>‹N›</a:t>
            </a:fld>
            <a:endParaRPr lang="en-US"/>
          </a:p>
        </p:txBody>
      </p:sp>
    </p:spTree>
    <p:extLst>
      <p:ext uri="{BB962C8B-B14F-4D97-AF65-F5344CB8AC3E}">
        <p14:creationId xmlns:p14="http://schemas.microsoft.com/office/powerpoint/2010/main" val="3539852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B072014A-CD94-483B-AA8A-A39AAFAE1E0D}" type="datetime1">
              <a:rPr lang="en-GB" smtClean="0"/>
              <a:t>03/02/2026</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312CC964-A50B-4C29-B4E4-2C30BB34CCF3}" type="slidenum">
              <a:rPr lang="en-US" smtClean="0"/>
              <a:t>‹N›</a:t>
            </a:fld>
            <a:endParaRPr lang="en-US"/>
          </a:p>
        </p:txBody>
      </p:sp>
    </p:spTree>
    <p:extLst>
      <p:ext uri="{BB962C8B-B14F-4D97-AF65-F5344CB8AC3E}">
        <p14:creationId xmlns:p14="http://schemas.microsoft.com/office/powerpoint/2010/main" val="641295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6593DF79-BEF0-4F46-94C7-AE3BB3330E3E}" type="datetime1">
              <a:rPr lang="en-GB" smtClean="0"/>
              <a:t>03/02/2026</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312CC964-A50B-4C29-B4E4-2C30BB34CCF3}" type="slidenum">
              <a:rPr lang="en-US" smtClean="0"/>
              <a:t>‹N›</a:t>
            </a:fld>
            <a:endParaRPr lang="en-US"/>
          </a:p>
        </p:txBody>
      </p:sp>
    </p:spTree>
    <p:extLst>
      <p:ext uri="{BB962C8B-B14F-4D97-AF65-F5344CB8AC3E}">
        <p14:creationId xmlns:p14="http://schemas.microsoft.com/office/powerpoint/2010/main" val="171552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2DAC0994-8CB9-44D0-8E70-FEDEE78350D9}" type="datetime1">
              <a:rPr lang="en-GB" smtClean="0"/>
              <a:t>03/02/2026</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312CC964-A50B-4C29-B4E4-2C30BB34CCF3}" type="slidenum">
              <a:rPr lang="en-US" smtClean="0"/>
              <a:t>‹N›</a:t>
            </a:fld>
            <a:endParaRPr lang="en-US"/>
          </a:p>
        </p:txBody>
      </p:sp>
    </p:spTree>
    <p:extLst>
      <p:ext uri="{BB962C8B-B14F-4D97-AF65-F5344CB8AC3E}">
        <p14:creationId xmlns:p14="http://schemas.microsoft.com/office/powerpoint/2010/main" val="529824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21BC0543-89B9-4C84-B396-B5C713E1E78E}" type="datetime1">
              <a:rPr lang="en-GB" smtClean="0"/>
              <a:t>03/02/2026</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312CC964-A50B-4C29-B4E4-2C30BB34CCF3}" type="slidenum">
              <a:rPr lang="en-US" smtClean="0"/>
              <a:t>‹N›</a:t>
            </a:fld>
            <a:endParaRPr lang="en-US"/>
          </a:p>
        </p:txBody>
      </p:sp>
    </p:spTree>
    <p:extLst>
      <p:ext uri="{BB962C8B-B14F-4D97-AF65-F5344CB8AC3E}">
        <p14:creationId xmlns:p14="http://schemas.microsoft.com/office/powerpoint/2010/main" val="489443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1CA0A14-6DDC-EBCE-0A24-831C9B1EC68D}"/>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endParaRPr lang="en-GB"/>
          </a:p>
        </p:txBody>
      </p:sp>
      <p:sp>
        <p:nvSpPr>
          <p:cNvPr id="3" name="Sottotitolo 2">
            <a:extLst>
              <a:ext uri="{FF2B5EF4-FFF2-40B4-BE49-F238E27FC236}">
                <a16:creationId xmlns:a16="http://schemas.microsoft.com/office/drawing/2014/main" id="{AB9C64F3-1D31-9F85-B674-13C2E0C97B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GB"/>
          </a:p>
        </p:txBody>
      </p:sp>
      <p:sp>
        <p:nvSpPr>
          <p:cNvPr id="4" name="Segnaposto data 3">
            <a:extLst>
              <a:ext uri="{FF2B5EF4-FFF2-40B4-BE49-F238E27FC236}">
                <a16:creationId xmlns:a16="http://schemas.microsoft.com/office/drawing/2014/main" id="{F0E643E8-421C-3FAE-CC8B-C1FF89C83282}"/>
              </a:ext>
            </a:extLst>
          </p:cNvPr>
          <p:cNvSpPr>
            <a:spLocks noGrp="1"/>
          </p:cNvSpPr>
          <p:nvPr>
            <p:ph type="dt" sz="half" idx="10"/>
          </p:nvPr>
        </p:nvSpPr>
        <p:spPr/>
        <p:txBody>
          <a:bodyPr/>
          <a:lstStyle/>
          <a:p>
            <a:fld id="{83BBF8D9-5F4D-4A8E-8C07-F8E7F8BA32FF}" type="datetime1">
              <a:rPr lang="en-GB" smtClean="0"/>
              <a:t>03/02/2026</a:t>
            </a:fld>
            <a:endParaRPr lang="en-GB"/>
          </a:p>
        </p:txBody>
      </p:sp>
      <p:sp>
        <p:nvSpPr>
          <p:cNvPr id="5" name="Segnaposto piè di pagina 4">
            <a:extLst>
              <a:ext uri="{FF2B5EF4-FFF2-40B4-BE49-F238E27FC236}">
                <a16:creationId xmlns:a16="http://schemas.microsoft.com/office/drawing/2014/main" id="{010B3B07-F118-6FD5-5C9D-5E5A0CE67071}"/>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3416228D-2B49-350D-0D74-F3E25D98FF92}"/>
              </a:ext>
            </a:extLst>
          </p:cNvPr>
          <p:cNvSpPr>
            <a:spLocks noGrp="1"/>
          </p:cNvSpPr>
          <p:nvPr>
            <p:ph type="sldNum" sz="quarter" idx="12"/>
          </p:nvPr>
        </p:nvSpPr>
        <p:spPr/>
        <p:txBody>
          <a:bodyPr/>
          <a:lstStyle/>
          <a:p>
            <a:fld id="{6BDFA317-9872-4CA4-AEEB-C3769785CDD8}" type="slidenum">
              <a:rPr lang="en-GB" smtClean="0"/>
              <a:t>‹N›</a:t>
            </a:fld>
            <a:endParaRPr lang="en-GB"/>
          </a:p>
        </p:txBody>
      </p:sp>
    </p:spTree>
    <p:extLst>
      <p:ext uri="{BB962C8B-B14F-4D97-AF65-F5344CB8AC3E}">
        <p14:creationId xmlns:p14="http://schemas.microsoft.com/office/powerpoint/2010/main" val="3940188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6D51D1-2E1F-1096-EB0D-531563C80A91}"/>
              </a:ext>
            </a:extLst>
          </p:cNvPr>
          <p:cNvSpPr>
            <a:spLocks noGrp="1"/>
          </p:cNvSpPr>
          <p:nvPr>
            <p:ph type="title"/>
          </p:nvPr>
        </p:nvSpPr>
        <p:spPr/>
        <p:txBody>
          <a:bodyPr/>
          <a:lstStyle/>
          <a:p>
            <a:r>
              <a:rPr lang="it-IT"/>
              <a:t>Fare clic per modificare lo stile del titolo dello schema</a:t>
            </a:r>
            <a:endParaRPr lang="en-GB"/>
          </a:p>
        </p:txBody>
      </p:sp>
      <p:sp>
        <p:nvSpPr>
          <p:cNvPr id="3" name="Segnaposto contenuto 2">
            <a:extLst>
              <a:ext uri="{FF2B5EF4-FFF2-40B4-BE49-F238E27FC236}">
                <a16:creationId xmlns:a16="http://schemas.microsoft.com/office/drawing/2014/main" id="{779B0F4E-F2EB-EA93-F0D4-E878BBEEE350}"/>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a:extLst>
              <a:ext uri="{FF2B5EF4-FFF2-40B4-BE49-F238E27FC236}">
                <a16:creationId xmlns:a16="http://schemas.microsoft.com/office/drawing/2014/main" id="{9E764837-6F94-9929-F0E6-6AA7AE9EA8CF}"/>
              </a:ext>
            </a:extLst>
          </p:cNvPr>
          <p:cNvSpPr>
            <a:spLocks noGrp="1"/>
          </p:cNvSpPr>
          <p:nvPr>
            <p:ph type="dt" sz="half" idx="10"/>
          </p:nvPr>
        </p:nvSpPr>
        <p:spPr/>
        <p:txBody>
          <a:bodyPr/>
          <a:lstStyle/>
          <a:p>
            <a:fld id="{7FC2DFF0-397A-45E8-9594-0ADA7F94DE27}" type="datetime1">
              <a:rPr lang="en-GB" smtClean="0"/>
              <a:t>03/02/2026</a:t>
            </a:fld>
            <a:endParaRPr lang="en-GB"/>
          </a:p>
        </p:txBody>
      </p:sp>
      <p:sp>
        <p:nvSpPr>
          <p:cNvPr id="5" name="Segnaposto piè di pagina 4">
            <a:extLst>
              <a:ext uri="{FF2B5EF4-FFF2-40B4-BE49-F238E27FC236}">
                <a16:creationId xmlns:a16="http://schemas.microsoft.com/office/drawing/2014/main" id="{5F59DB6D-7854-C8BD-AC46-8D0A18FB241C}"/>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C25BF5D5-1327-CE66-C904-169B870C09F3}"/>
              </a:ext>
            </a:extLst>
          </p:cNvPr>
          <p:cNvSpPr>
            <a:spLocks noGrp="1"/>
          </p:cNvSpPr>
          <p:nvPr>
            <p:ph type="sldNum" sz="quarter" idx="12"/>
          </p:nvPr>
        </p:nvSpPr>
        <p:spPr/>
        <p:txBody>
          <a:bodyPr/>
          <a:lstStyle/>
          <a:p>
            <a:fld id="{6BDFA317-9872-4CA4-AEEB-C3769785CDD8}" type="slidenum">
              <a:rPr lang="en-GB" smtClean="0"/>
              <a:t>‹N›</a:t>
            </a:fld>
            <a:endParaRPr lang="en-GB"/>
          </a:p>
        </p:txBody>
      </p:sp>
    </p:spTree>
    <p:extLst>
      <p:ext uri="{BB962C8B-B14F-4D97-AF65-F5344CB8AC3E}">
        <p14:creationId xmlns:p14="http://schemas.microsoft.com/office/powerpoint/2010/main" val="14115299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143BD4A-E309-2209-4E40-A67AB2733CE7}"/>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endParaRPr lang="en-GB"/>
          </a:p>
        </p:txBody>
      </p:sp>
      <p:sp>
        <p:nvSpPr>
          <p:cNvPr id="3" name="Segnaposto testo 2">
            <a:extLst>
              <a:ext uri="{FF2B5EF4-FFF2-40B4-BE49-F238E27FC236}">
                <a16:creationId xmlns:a16="http://schemas.microsoft.com/office/drawing/2014/main" id="{1CD7B6FE-8459-DCF3-3CFD-A94F2B1425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4F6137ED-2E68-E11D-7E3C-0D2CBA99C24A}"/>
              </a:ext>
            </a:extLst>
          </p:cNvPr>
          <p:cNvSpPr>
            <a:spLocks noGrp="1"/>
          </p:cNvSpPr>
          <p:nvPr>
            <p:ph type="dt" sz="half" idx="10"/>
          </p:nvPr>
        </p:nvSpPr>
        <p:spPr/>
        <p:txBody>
          <a:bodyPr/>
          <a:lstStyle/>
          <a:p>
            <a:fld id="{870AAA97-178F-46B2-BFBD-1B5198D76CDD}" type="datetime1">
              <a:rPr lang="en-GB" smtClean="0"/>
              <a:t>03/02/2026</a:t>
            </a:fld>
            <a:endParaRPr lang="en-GB"/>
          </a:p>
        </p:txBody>
      </p:sp>
      <p:sp>
        <p:nvSpPr>
          <p:cNvPr id="5" name="Segnaposto piè di pagina 4">
            <a:extLst>
              <a:ext uri="{FF2B5EF4-FFF2-40B4-BE49-F238E27FC236}">
                <a16:creationId xmlns:a16="http://schemas.microsoft.com/office/drawing/2014/main" id="{CA41A4A2-F1AA-C2E7-6529-922555DC2C5E}"/>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865070BE-40AE-C24E-4249-C4FD81874B6D}"/>
              </a:ext>
            </a:extLst>
          </p:cNvPr>
          <p:cNvSpPr>
            <a:spLocks noGrp="1"/>
          </p:cNvSpPr>
          <p:nvPr>
            <p:ph type="sldNum" sz="quarter" idx="12"/>
          </p:nvPr>
        </p:nvSpPr>
        <p:spPr/>
        <p:txBody>
          <a:bodyPr/>
          <a:lstStyle/>
          <a:p>
            <a:fld id="{6BDFA317-9872-4CA4-AEEB-C3769785CDD8}" type="slidenum">
              <a:rPr lang="en-GB" smtClean="0"/>
              <a:t>‹N›</a:t>
            </a:fld>
            <a:endParaRPr lang="en-GB"/>
          </a:p>
        </p:txBody>
      </p:sp>
    </p:spTree>
    <p:extLst>
      <p:ext uri="{BB962C8B-B14F-4D97-AF65-F5344CB8AC3E}">
        <p14:creationId xmlns:p14="http://schemas.microsoft.com/office/powerpoint/2010/main" val="30339389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3FC95CC-9740-6B58-2759-6EC8691CAEE8}"/>
              </a:ext>
            </a:extLst>
          </p:cNvPr>
          <p:cNvSpPr>
            <a:spLocks noGrp="1"/>
          </p:cNvSpPr>
          <p:nvPr>
            <p:ph type="title"/>
          </p:nvPr>
        </p:nvSpPr>
        <p:spPr/>
        <p:txBody>
          <a:bodyPr/>
          <a:lstStyle/>
          <a:p>
            <a:r>
              <a:rPr lang="it-IT"/>
              <a:t>Fare clic per modificare lo stile del titolo dello schema</a:t>
            </a:r>
            <a:endParaRPr lang="en-GB"/>
          </a:p>
        </p:txBody>
      </p:sp>
      <p:sp>
        <p:nvSpPr>
          <p:cNvPr id="3" name="Segnaposto contenuto 2">
            <a:extLst>
              <a:ext uri="{FF2B5EF4-FFF2-40B4-BE49-F238E27FC236}">
                <a16:creationId xmlns:a16="http://schemas.microsoft.com/office/drawing/2014/main" id="{3E683970-DA34-0938-602A-855A5034FE66}"/>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contenuto 3">
            <a:extLst>
              <a:ext uri="{FF2B5EF4-FFF2-40B4-BE49-F238E27FC236}">
                <a16:creationId xmlns:a16="http://schemas.microsoft.com/office/drawing/2014/main" id="{8D3BE760-E707-3E8C-C1B5-546098F21BE0}"/>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5" name="Segnaposto data 4">
            <a:extLst>
              <a:ext uri="{FF2B5EF4-FFF2-40B4-BE49-F238E27FC236}">
                <a16:creationId xmlns:a16="http://schemas.microsoft.com/office/drawing/2014/main" id="{0F5B1887-7F88-B4FA-A2DE-06C0DC7B4C57}"/>
              </a:ext>
            </a:extLst>
          </p:cNvPr>
          <p:cNvSpPr>
            <a:spLocks noGrp="1"/>
          </p:cNvSpPr>
          <p:nvPr>
            <p:ph type="dt" sz="half" idx="10"/>
          </p:nvPr>
        </p:nvSpPr>
        <p:spPr/>
        <p:txBody>
          <a:bodyPr/>
          <a:lstStyle/>
          <a:p>
            <a:fld id="{F58F27A6-049D-4C8E-B0C0-00DA7EEC9DF3}" type="datetime1">
              <a:rPr lang="en-GB" smtClean="0"/>
              <a:t>03/02/2026</a:t>
            </a:fld>
            <a:endParaRPr lang="en-GB"/>
          </a:p>
        </p:txBody>
      </p:sp>
      <p:sp>
        <p:nvSpPr>
          <p:cNvPr id="6" name="Segnaposto piè di pagina 5">
            <a:extLst>
              <a:ext uri="{FF2B5EF4-FFF2-40B4-BE49-F238E27FC236}">
                <a16:creationId xmlns:a16="http://schemas.microsoft.com/office/drawing/2014/main" id="{1E58BD27-9A4A-2A42-5CA4-382487B7F9FB}"/>
              </a:ext>
            </a:extLst>
          </p:cNvPr>
          <p:cNvSpPr>
            <a:spLocks noGrp="1"/>
          </p:cNvSpPr>
          <p:nvPr>
            <p:ph type="ftr" sz="quarter" idx="11"/>
          </p:nvPr>
        </p:nvSpPr>
        <p:spPr/>
        <p:txBody>
          <a:bodyPr/>
          <a:lstStyle/>
          <a:p>
            <a:endParaRPr lang="en-GB"/>
          </a:p>
        </p:txBody>
      </p:sp>
      <p:sp>
        <p:nvSpPr>
          <p:cNvPr id="7" name="Segnaposto numero diapositiva 6">
            <a:extLst>
              <a:ext uri="{FF2B5EF4-FFF2-40B4-BE49-F238E27FC236}">
                <a16:creationId xmlns:a16="http://schemas.microsoft.com/office/drawing/2014/main" id="{E8756DF6-FD4D-5402-C185-7BED7EC16227}"/>
              </a:ext>
            </a:extLst>
          </p:cNvPr>
          <p:cNvSpPr>
            <a:spLocks noGrp="1"/>
          </p:cNvSpPr>
          <p:nvPr>
            <p:ph type="sldNum" sz="quarter" idx="12"/>
          </p:nvPr>
        </p:nvSpPr>
        <p:spPr/>
        <p:txBody>
          <a:bodyPr/>
          <a:lstStyle/>
          <a:p>
            <a:fld id="{6BDFA317-9872-4CA4-AEEB-C3769785CDD8}" type="slidenum">
              <a:rPr lang="en-GB" smtClean="0"/>
              <a:t>‹N›</a:t>
            </a:fld>
            <a:endParaRPr lang="en-GB"/>
          </a:p>
        </p:txBody>
      </p:sp>
    </p:spTree>
    <p:extLst>
      <p:ext uri="{BB962C8B-B14F-4D97-AF65-F5344CB8AC3E}">
        <p14:creationId xmlns:p14="http://schemas.microsoft.com/office/powerpoint/2010/main" val="4586269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655F74-0A41-8E99-4ACD-1043D7E8065B}"/>
              </a:ext>
            </a:extLst>
          </p:cNvPr>
          <p:cNvSpPr>
            <a:spLocks noGrp="1"/>
          </p:cNvSpPr>
          <p:nvPr>
            <p:ph type="title"/>
          </p:nvPr>
        </p:nvSpPr>
        <p:spPr>
          <a:xfrm>
            <a:off x="839788" y="365125"/>
            <a:ext cx="10515600" cy="1325563"/>
          </a:xfrm>
        </p:spPr>
        <p:txBody>
          <a:bodyPr/>
          <a:lstStyle/>
          <a:p>
            <a:r>
              <a:rPr lang="it-IT"/>
              <a:t>Fare clic per modificare lo stile del titolo dello schema</a:t>
            </a:r>
            <a:endParaRPr lang="en-GB"/>
          </a:p>
        </p:txBody>
      </p:sp>
      <p:sp>
        <p:nvSpPr>
          <p:cNvPr id="3" name="Segnaposto testo 2">
            <a:extLst>
              <a:ext uri="{FF2B5EF4-FFF2-40B4-BE49-F238E27FC236}">
                <a16:creationId xmlns:a16="http://schemas.microsoft.com/office/drawing/2014/main" id="{4BA498A0-1348-0AF0-459D-B5A44EA5BC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FB7386B8-7ABF-ED5C-2D0A-A089168DB227}"/>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5" name="Segnaposto testo 4">
            <a:extLst>
              <a:ext uri="{FF2B5EF4-FFF2-40B4-BE49-F238E27FC236}">
                <a16:creationId xmlns:a16="http://schemas.microsoft.com/office/drawing/2014/main" id="{CF1AFF30-9597-06E6-388E-B5FBB315FE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97E9513C-3B2B-A152-9838-127F28AE009F}"/>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7" name="Segnaposto data 6">
            <a:extLst>
              <a:ext uri="{FF2B5EF4-FFF2-40B4-BE49-F238E27FC236}">
                <a16:creationId xmlns:a16="http://schemas.microsoft.com/office/drawing/2014/main" id="{42A6723E-3F38-5F5B-E671-01E85FF7C5EB}"/>
              </a:ext>
            </a:extLst>
          </p:cNvPr>
          <p:cNvSpPr>
            <a:spLocks noGrp="1"/>
          </p:cNvSpPr>
          <p:nvPr>
            <p:ph type="dt" sz="half" idx="10"/>
          </p:nvPr>
        </p:nvSpPr>
        <p:spPr/>
        <p:txBody>
          <a:bodyPr/>
          <a:lstStyle/>
          <a:p>
            <a:fld id="{93902012-8BA5-4999-8F4E-3D0FB498CDD7}" type="datetime1">
              <a:rPr lang="en-GB" smtClean="0"/>
              <a:t>03/02/2026</a:t>
            </a:fld>
            <a:endParaRPr lang="en-GB"/>
          </a:p>
        </p:txBody>
      </p:sp>
      <p:sp>
        <p:nvSpPr>
          <p:cNvPr id="8" name="Segnaposto piè di pagina 7">
            <a:extLst>
              <a:ext uri="{FF2B5EF4-FFF2-40B4-BE49-F238E27FC236}">
                <a16:creationId xmlns:a16="http://schemas.microsoft.com/office/drawing/2014/main" id="{3D2F03C6-0582-54A3-C5E0-0C1228CFB1D4}"/>
              </a:ext>
            </a:extLst>
          </p:cNvPr>
          <p:cNvSpPr>
            <a:spLocks noGrp="1"/>
          </p:cNvSpPr>
          <p:nvPr>
            <p:ph type="ftr" sz="quarter" idx="11"/>
          </p:nvPr>
        </p:nvSpPr>
        <p:spPr/>
        <p:txBody>
          <a:bodyPr/>
          <a:lstStyle/>
          <a:p>
            <a:endParaRPr lang="en-GB"/>
          </a:p>
        </p:txBody>
      </p:sp>
      <p:sp>
        <p:nvSpPr>
          <p:cNvPr id="9" name="Segnaposto numero diapositiva 8">
            <a:extLst>
              <a:ext uri="{FF2B5EF4-FFF2-40B4-BE49-F238E27FC236}">
                <a16:creationId xmlns:a16="http://schemas.microsoft.com/office/drawing/2014/main" id="{404D8374-3EF9-FA40-30E3-38CE08DB300E}"/>
              </a:ext>
            </a:extLst>
          </p:cNvPr>
          <p:cNvSpPr>
            <a:spLocks noGrp="1"/>
          </p:cNvSpPr>
          <p:nvPr>
            <p:ph type="sldNum" sz="quarter" idx="12"/>
          </p:nvPr>
        </p:nvSpPr>
        <p:spPr/>
        <p:txBody>
          <a:bodyPr/>
          <a:lstStyle/>
          <a:p>
            <a:fld id="{6BDFA317-9872-4CA4-AEEB-C3769785CDD8}" type="slidenum">
              <a:rPr lang="en-GB" smtClean="0"/>
              <a:t>‹N›</a:t>
            </a:fld>
            <a:endParaRPr lang="en-GB"/>
          </a:p>
        </p:txBody>
      </p:sp>
    </p:spTree>
    <p:extLst>
      <p:ext uri="{BB962C8B-B14F-4D97-AF65-F5344CB8AC3E}">
        <p14:creationId xmlns:p14="http://schemas.microsoft.com/office/powerpoint/2010/main" val="9490643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AB44BC-A80C-B3C5-6468-C31E9523F902}"/>
              </a:ext>
            </a:extLst>
          </p:cNvPr>
          <p:cNvSpPr>
            <a:spLocks noGrp="1"/>
          </p:cNvSpPr>
          <p:nvPr>
            <p:ph type="title"/>
          </p:nvPr>
        </p:nvSpPr>
        <p:spPr/>
        <p:txBody>
          <a:bodyPr/>
          <a:lstStyle/>
          <a:p>
            <a:r>
              <a:rPr lang="it-IT"/>
              <a:t>Fare clic per modificare lo stile del titolo dello schema</a:t>
            </a:r>
            <a:endParaRPr lang="en-GB"/>
          </a:p>
        </p:txBody>
      </p:sp>
      <p:sp>
        <p:nvSpPr>
          <p:cNvPr id="3" name="Segnaposto data 2">
            <a:extLst>
              <a:ext uri="{FF2B5EF4-FFF2-40B4-BE49-F238E27FC236}">
                <a16:creationId xmlns:a16="http://schemas.microsoft.com/office/drawing/2014/main" id="{9592EAE3-7E8F-522F-4923-1B651AEA6A2B}"/>
              </a:ext>
            </a:extLst>
          </p:cNvPr>
          <p:cNvSpPr>
            <a:spLocks noGrp="1"/>
          </p:cNvSpPr>
          <p:nvPr>
            <p:ph type="dt" sz="half" idx="10"/>
          </p:nvPr>
        </p:nvSpPr>
        <p:spPr/>
        <p:txBody>
          <a:bodyPr/>
          <a:lstStyle/>
          <a:p>
            <a:fld id="{F5262BD7-F29F-4422-A6DF-93675DCEE167}" type="datetime1">
              <a:rPr lang="en-GB" smtClean="0"/>
              <a:t>03/02/2026</a:t>
            </a:fld>
            <a:endParaRPr lang="en-GB"/>
          </a:p>
        </p:txBody>
      </p:sp>
      <p:sp>
        <p:nvSpPr>
          <p:cNvPr id="4" name="Segnaposto piè di pagina 3">
            <a:extLst>
              <a:ext uri="{FF2B5EF4-FFF2-40B4-BE49-F238E27FC236}">
                <a16:creationId xmlns:a16="http://schemas.microsoft.com/office/drawing/2014/main" id="{A2B655A8-15E6-5316-D6E6-9ABD93CE7423}"/>
              </a:ext>
            </a:extLst>
          </p:cNvPr>
          <p:cNvSpPr>
            <a:spLocks noGrp="1"/>
          </p:cNvSpPr>
          <p:nvPr>
            <p:ph type="ftr" sz="quarter" idx="11"/>
          </p:nvPr>
        </p:nvSpPr>
        <p:spPr/>
        <p:txBody>
          <a:bodyPr/>
          <a:lstStyle/>
          <a:p>
            <a:endParaRPr lang="en-GB"/>
          </a:p>
        </p:txBody>
      </p:sp>
      <p:sp>
        <p:nvSpPr>
          <p:cNvPr id="5" name="Segnaposto numero diapositiva 4">
            <a:extLst>
              <a:ext uri="{FF2B5EF4-FFF2-40B4-BE49-F238E27FC236}">
                <a16:creationId xmlns:a16="http://schemas.microsoft.com/office/drawing/2014/main" id="{1EF56A2F-E002-C7B5-FCAA-41409F6777E3}"/>
              </a:ext>
            </a:extLst>
          </p:cNvPr>
          <p:cNvSpPr>
            <a:spLocks noGrp="1"/>
          </p:cNvSpPr>
          <p:nvPr>
            <p:ph type="sldNum" sz="quarter" idx="12"/>
          </p:nvPr>
        </p:nvSpPr>
        <p:spPr/>
        <p:txBody>
          <a:bodyPr/>
          <a:lstStyle/>
          <a:p>
            <a:fld id="{6BDFA317-9872-4CA4-AEEB-C3769785CDD8}" type="slidenum">
              <a:rPr lang="en-GB" smtClean="0"/>
              <a:t>‹N›</a:t>
            </a:fld>
            <a:endParaRPr lang="en-GB"/>
          </a:p>
        </p:txBody>
      </p:sp>
    </p:spTree>
    <p:extLst>
      <p:ext uri="{BB962C8B-B14F-4D97-AF65-F5344CB8AC3E}">
        <p14:creationId xmlns:p14="http://schemas.microsoft.com/office/powerpoint/2010/main" val="1226147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D25E7CCF-613B-E1AA-A6D5-52BDBC609D52}"/>
              </a:ext>
            </a:extLst>
          </p:cNvPr>
          <p:cNvSpPr>
            <a:spLocks noGrp="1"/>
          </p:cNvSpPr>
          <p:nvPr>
            <p:ph type="dt" sz="half" idx="10"/>
          </p:nvPr>
        </p:nvSpPr>
        <p:spPr/>
        <p:txBody>
          <a:bodyPr/>
          <a:lstStyle/>
          <a:p>
            <a:fld id="{2308CADB-874F-4CE6-B5FB-AAE8F9F4C77B}" type="datetime1">
              <a:rPr lang="en-GB" smtClean="0"/>
              <a:t>03/02/2026</a:t>
            </a:fld>
            <a:endParaRPr lang="en-GB"/>
          </a:p>
        </p:txBody>
      </p:sp>
      <p:sp>
        <p:nvSpPr>
          <p:cNvPr id="3" name="Segnaposto piè di pagina 2">
            <a:extLst>
              <a:ext uri="{FF2B5EF4-FFF2-40B4-BE49-F238E27FC236}">
                <a16:creationId xmlns:a16="http://schemas.microsoft.com/office/drawing/2014/main" id="{2D7DA556-E968-F658-8E09-F3D259AC067F}"/>
              </a:ext>
            </a:extLst>
          </p:cNvPr>
          <p:cNvSpPr>
            <a:spLocks noGrp="1"/>
          </p:cNvSpPr>
          <p:nvPr>
            <p:ph type="ftr" sz="quarter" idx="11"/>
          </p:nvPr>
        </p:nvSpPr>
        <p:spPr/>
        <p:txBody>
          <a:bodyPr/>
          <a:lstStyle/>
          <a:p>
            <a:endParaRPr lang="en-GB"/>
          </a:p>
        </p:txBody>
      </p:sp>
      <p:sp>
        <p:nvSpPr>
          <p:cNvPr id="4" name="Segnaposto numero diapositiva 3">
            <a:extLst>
              <a:ext uri="{FF2B5EF4-FFF2-40B4-BE49-F238E27FC236}">
                <a16:creationId xmlns:a16="http://schemas.microsoft.com/office/drawing/2014/main" id="{02510574-F08F-4F5F-5320-EEEB51ADEF41}"/>
              </a:ext>
            </a:extLst>
          </p:cNvPr>
          <p:cNvSpPr>
            <a:spLocks noGrp="1"/>
          </p:cNvSpPr>
          <p:nvPr>
            <p:ph type="sldNum" sz="quarter" idx="12"/>
          </p:nvPr>
        </p:nvSpPr>
        <p:spPr/>
        <p:txBody>
          <a:bodyPr/>
          <a:lstStyle/>
          <a:p>
            <a:fld id="{6BDFA317-9872-4CA4-AEEB-C3769785CDD8}" type="slidenum">
              <a:rPr lang="en-GB" smtClean="0"/>
              <a:t>‹N›</a:t>
            </a:fld>
            <a:endParaRPr lang="en-GB"/>
          </a:p>
        </p:txBody>
      </p:sp>
    </p:spTree>
    <p:extLst>
      <p:ext uri="{BB962C8B-B14F-4D97-AF65-F5344CB8AC3E}">
        <p14:creationId xmlns:p14="http://schemas.microsoft.com/office/powerpoint/2010/main" val="9837401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582338D-9CBA-1691-5A91-93C7CB54603A}"/>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GB"/>
          </a:p>
        </p:txBody>
      </p:sp>
      <p:sp>
        <p:nvSpPr>
          <p:cNvPr id="3" name="Segnaposto contenuto 2">
            <a:extLst>
              <a:ext uri="{FF2B5EF4-FFF2-40B4-BE49-F238E27FC236}">
                <a16:creationId xmlns:a16="http://schemas.microsoft.com/office/drawing/2014/main" id="{EE33B4BC-B165-1BE2-8BD5-7AEE414031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testo 3">
            <a:extLst>
              <a:ext uri="{FF2B5EF4-FFF2-40B4-BE49-F238E27FC236}">
                <a16:creationId xmlns:a16="http://schemas.microsoft.com/office/drawing/2014/main" id="{943937E8-D420-E164-5EBE-D82FDFAAA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0527CA65-CEFD-483E-45B5-F689B41D6694}"/>
              </a:ext>
            </a:extLst>
          </p:cNvPr>
          <p:cNvSpPr>
            <a:spLocks noGrp="1"/>
          </p:cNvSpPr>
          <p:nvPr>
            <p:ph type="dt" sz="half" idx="10"/>
          </p:nvPr>
        </p:nvSpPr>
        <p:spPr/>
        <p:txBody>
          <a:bodyPr/>
          <a:lstStyle/>
          <a:p>
            <a:fld id="{945BE821-4919-406F-A5A9-A75257FE4D86}" type="datetime1">
              <a:rPr lang="en-GB" smtClean="0"/>
              <a:t>03/02/2026</a:t>
            </a:fld>
            <a:endParaRPr lang="en-GB"/>
          </a:p>
        </p:txBody>
      </p:sp>
      <p:sp>
        <p:nvSpPr>
          <p:cNvPr id="6" name="Segnaposto piè di pagina 5">
            <a:extLst>
              <a:ext uri="{FF2B5EF4-FFF2-40B4-BE49-F238E27FC236}">
                <a16:creationId xmlns:a16="http://schemas.microsoft.com/office/drawing/2014/main" id="{535DCA3E-68F7-9645-CF50-4652C535AE0D}"/>
              </a:ext>
            </a:extLst>
          </p:cNvPr>
          <p:cNvSpPr>
            <a:spLocks noGrp="1"/>
          </p:cNvSpPr>
          <p:nvPr>
            <p:ph type="ftr" sz="quarter" idx="11"/>
          </p:nvPr>
        </p:nvSpPr>
        <p:spPr/>
        <p:txBody>
          <a:bodyPr/>
          <a:lstStyle/>
          <a:p>
            <a:endParaRPr lang="en-GB"/>
          </a:p>
        </p:txBody>
      </p:sp>
      <p:sp>
        <p:nvSpPr>
          <p:cNvPr id="7" name="Segnaposto numero diapositiva 6">
            <a:extLst>
              <a:ext uri="{FF2B5EF4-FFF2-40B4-BE49-F238E27FC236}">
                <a16:creationId xmlns:a16="http://schemas.microsoft.com/office/drawing/2014/main" id="{EB4E3B09-11B1-09E2-AB37-CB094B2A4AF4}"/>
              </a:ext>
            </a:extLst>
          </p:cNvPr>
          <p:cNvSpPr>
            <a:spLocks noGrp="1"/>
          </p:cNvSpPr>
          <p:nvPr>
            <p:ph type="sldNum" sz="quarter" idx="12"/>
          </p:nvPr>
        </p:nvSpPr>
        <p:spPr/>
        <p:txBody>
          <a:bodyPr/>
          <a:lstStyle/>
          <a:p>
            <a:fld id="{6BDFA317-9872-4CA4-AEEB-C3769785CDD8}" type="slidenum">
              <a:rPr lang="en-GB" smtClean="0"/>
              <a:t>‹N›</a:t>
            </a:fld>
            <a:endParaRPr lang="en-GB"/>
          </a:p>
        </p:txBody>
      </p:sp>
    </p:spTree>
    <p:extLst>
      <p:ext uri="{BB962C8B-B14F-4D97-AF65-F5344CB8AC3E}">
        <p14:creationId xmlns:p14="http://schemas.microsoft.com/office/powerpoint/2010/main" val="1793569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F153B73-49EA-DA6C-1E3C-51F0A34BEAF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GB"/>
          </a:p>
        </p:txBody>
      </p:sp>
      <p:sp>
        <p:nvSpPr>
          <p:cNvPr id="3" name="Segnaposto immagine 2">
            <a:extLst>
              <a:ext uri="{FF2B5EF4-FFF2-40B4-BE49-F238E27FC236}">
                <a16:creationId xmlns:a16="http://schemas.microsoft.com/office/drawing/2014/main" id="{23601A30-581C-7A9E-AAA1-4C7E466CA2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egnaposto testo 3">
            <a:extLst>
              <a:ext uri="{FF2B5EF4-FFF2-40B4-BE49-F238E27FC236}">
                <a16:creationId xmlns:a16="http://schemas.microsoft.com/office/drawing/2014/main" id="{CF98FD30-EC8F-722F-DEDF-4DFE416758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93645D1-225F-2784-107F-779F7AD94EF0}"/>
              </a:ext>
            </a:extLst>
          </p:cNvPr>
          <p:cNvSpPr>
            <a:spLocks noGrp="1"/>
          </p:cNvSpPr>
          <p:nvPr>
            <p:ph type="dt" sz="half" idx="10"/>
          </p:nvPr>
        </p:nvSpPr>
        <p:spPr/>
        <p:txBody>
          <a:bodyPr/>
          <a:lstStyle/>
          <a:p>
            <a:fld id="{452FFF23-FB86-4456-93AF-04A9A08671B1}" type="datetime1">
              <a:rPr lang="en-GB" smtClean="0"/>
              <a:t>03/02/2026</a:t>
            </a:fld>
            <a:endParaRPr lang="en-GB"/>
          </a:p>
        </p:txBody>
      </p:sp>
      <p:sp>
        <p:nvSpPr>
          <p:cNvPr id="6" name="Segnaposto piè di pagina 5">
            <a:extLst>
              <a:ext uri="{FF2B5EF4-FFF2-40B4-BE49-F238E27FC236}">
                <a16:creationId xmlns:a16="http://schemas.microsoft.com/office/drawing/2014/main" id="{B36FCE73-DB32-9825-1D4B-C8DA4B77AB35}"/>
              </a:ext>
            </a:extLst>
          </p:cNvPr>
          <p:cNvSpPr>
            <a:spLocks noGrp="1"/>
          </p:cNvSpPr>
          <p:nvPr>
            <p:ph type="ftr" sz="quarter" idx="11"/>
          </p:nvPr>
        </p:nvSpPr>
        <p:spPr/>
        <p:txBody>
          <a:bodyPr/>
          <a:lstStyle/>
          <a:p>
            <a:endParaRPr lang="en-GB"/>
          </a:p>
        </p:txBody>
      </p:sp>
      <p:sp>
        <p:nvSpPr>
          <p:cNvPr id="7" name="Segnaposto numero diapositiva 6">
            <a:extLst>
              <a:ext uri="{FF2B5EF4-FFF2-40B4-BE49-F238E27FC236}">
                <a16:creationId xmlns:a16="http://schemas.microsoft.com/office/drawing/2014/main" id="{659CD53F-D349-142B-14C6-02736302BC64}"/>
              </a:ext>
            </a:extLst>
          </p:cNvPr>
          <p:cNvSpPr>
            <a:spLocks noGrp="1"/>
          </p:cNvSpPr>
          <p:nvPr>
            <p:ph type="sldNum" sz="quarter" idx="12"/>
          </p:nvPr>
        </p:nvSpPr>
        <p:spPr/>
        <p:txBody>
          <a:bodyPr/>
          <a:lstStyle/>
          <a:p>
            <a:fld id="{6BDFA317-9872-4CA4-AEEB-C3769785CDD8}" type="slidenum">
              <a:rPr lang="en-GB" smtClean="0"/>
              <a:t>‹N›</a:t>
            </a:fld>
            <a:endParaRPr lang="en-GB"/>
          </a:p>
        </p:txBody>
      </p:sp>
    </p:spTree>
    <p:extLst>
      <p:ext uri="{BB962C8B-B14F-4D97-AF65-F5344CB8AC3E}">
        <p14:creationId xmlns:p14="http://schemas.microsoft.com/office/powerpoint/2010/main" val="2511376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2B8480-B51D-8263-6CD5-46857C6BD259}"/>
              </a:ext>
            </a:extLst>
          </p:cNvPr>
          <p:cNvSpPr>
            <a:spLocks noGrp="1"/>
          </p:cNvSpPr>
          <p:nvPr>
            <p:ph type="title"/>
          </p:nvPr>
        </p:nvSpPr>
        <p:spPr/>
        <p:txBody>
          <a:bodyPr/>
          <a:lstStyle/>
          <a:p>
            <a:r>
              <a:rPr lang="it-IT"/>
              <a:t>Fare clic per modificare lo stile del titolo dello schema</a:t>
            </a:r>
            <a:endParaRPr lang="en-GB"/>
          </a:p>
        </p:txBody>
      </p:sp>
      <p:sp>
        <p:nvSpPr>
          <p:cNvPr id="3" name="Segnaposto testo verticale 2">
            <a:extLst>
              <a:ext uri="{FF2B5EF4-FFF2-40B4-BE49-F238E27FC236}">
                <a16:creationId xmlns:a16="http://schemas.microsoft.com/office/drawing/2014/main" id="{0FEA1C4B-2DF6-FD59-7B6B-260D1A18AEF8}"/>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a:extLst>
              <a:ext uri="{FF2B5EF4-FFF2-40B4-BE49-F238E27FC236}">
                <a16:creationId xmlns:a16="http://schemas.microsoft.com/office/drawing/2014/main" id="{0E4772ED-750F-619F-6BFD-07AACFD798F7}"/>
              </a:ext>
            </a:extLst>
          </p:cNvPr>
          <p:cNvSpPr>
            <a:spLocks noGrp="1"/>
          </p:cNvSpPr>
          <p:nvPr>
            <p:ph type="dt" sz="half" idx="10"/>
          </p:nvPr>
        </p:nvSpPr>
        <p:spPr/>
        <p:txBody>
          <a:bodyPr/>
          <a:lstStyle/>
          <a:p>
            <a:fld id="{496DFA7C-F56A-4F70-B46C-7B991286A256}" type="datetime1">
              <a:rPr lang="en-GB" smtClean="0"/>
              <a:t>03/02/2026</a:t>
            </a:fld>
            <a:endParaRPr lang="en-GB"/>
          </a:p>
        </p:txBody>
      </p:sp>
      <p:sp>
        <p:nvSpPr>
          <p:cNvPr id="5" name="Segnaposto piè di pagina 4">
            <a:extLst>
              <a:ext uri="{FF2B5EF4-FFF2-40B4-BE49-F238E27FC236}">
                <a16:creationId xmlns:a16="http://schemas.microsoft.com/office/drawing/2014/main" id="{D9531AF7-2111-03CB-58D0-8B46445089E9}"/>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68B5B7E5-F14E-66A5-7974-2CA737D0788E}"/>
              </a:ext>
            </a:extLst>
          </p:cNvPr>
          <p:cNvSpPr>
            <a:spLocks noGrp="1"/>
          </p:cNvSpPr>
          <p:nvPr>
            <p:ph type="sldNum" sz="quarter" idx="12"/>
          </p:nvPr>
        </p:nvSpPr>
        <p:spPr/>
        <p:txBody>
          <a:bodyPr/>
          <a:lstStyle/>
          <a:p>
            <a:fld id="{6BDFA317-9872-4CA4-AEEB-C3769785CDD8}" type="slidenum">
              <a:rPr lang="en-GB" smtClean="0"/>
              <a:t>‹N›</a:t>
            </a:fld>
            <a:endParaRPr lang="en-GB"/>
          </a:p>
        </p:txBody>
      </p:sp>
    </p:spTree>
    <p:extLst>
      <p:ext uri="{BB962C8B-B14F-4D97-AF65-F5344CB8AC3E}">
        <p14:creationId xmlns:p14="http://schemas.microsoft.com/office/powerpoint/2010/main" val="3125638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E88CCD1-2A1A-EE19-BF8A-F66078395D88}"/>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endParaRPr lang="en-GB"/>
          </a:p>
        </p:txBody>
      </p:sp>
      <p:sp>
        <p:nvSpPr>
          <p:cNvPr id="3" name="Segnaposto testo verticale 2">
            <a:extLst>
              <a:ext uri="{FF2B5EF4-FFF2-40B4-BE49-F238E27FC236}">
                <a16:creationId xmlns:a16="http://schemas.microsoft.com/office/drawing/2014/main" id="{E8D0BBE4-403B-5181-3FAA-4BCFAAA3D24A}"/>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a:extLst>
              <a:ext uri="{FF2B5EF4-FFF2-40B4-BE49-F238E27FC236}">
                <a16:creationId xmlns:a16="http://schemas.microsoft.com/office/drawing/2014/main" id="{BEE911D5-9729-B14E-C023-9C9F826E1570}"/>
              </a:ext>
            </a:extLst>
          </p:cNvPr>
          <p:cNvSpPr>
            <a:spLocks noGrp="1"/>
          </p:cNvSpPr>
          <p:nvPr>
            <p:ph type="dt" sz="half" idx="10"/>
          </p:nvPr>
        </p:nvSpPr>
        <p:spPr/>
        <p:txBody>
          <a:bodyPr/>
          <a:lstStyle/>
          <a:p>
            <a:fld id="{C922D9EE-5E67-43C7-AFDD-3E5439F1CAC1}" type="datetime1">
              <a:rPr lang="en-GB" smtClean="0"/>
              <a:t>03/02/2026</a:t>
            </a:fld>
            <a:endParaRPr lang="en-GB"/>
          </a:p>
        </p:txBody>
      </p:sp>
      <p:sp>
        <p:nvSpPr>
          <p:cNvPr id="5" name="Segnaposto piè di pagina 4">
            <a:extLst>
              <a:ext uri="{FF2B5EF4-FFF2-40B4-BE49-F238E27FC236}">
                <a16:creationId xmlns:a16="http://schemas.microsoft.com/office/drawing/2014/main" id="{3EF04E0D-7F32-3FF9-163F-DBF0C4D3EDCF}"/>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88989520-11F5-BD89-37BE-3A87F1A5145D}"/>
              </a:ext>
            </a:extLst>
          </p:cNvPr>
          <p:cNvSpPr>
            <a:spLocks noGrp="1"/>
          </p:cNvSpPr>
          <p:nvPr>
            <p:ph type="sldNum" sz="quarter" idx="12"/>
          </p:nvPr>
        </p:nvSpPr>
        <p:spPr/>
        <p:txBody>
          <a:bodyPr/>
          <a:lstStyle/>
          <a:p>
            <a:fld id="{6BDFA317-9872-4CA4-AEEB-C3769785CDD8}" type="slidenum">
              <a:rPr lang="en-GB" smtClean="0"/>
              <a:t>‹N›</a:t>
            </a:fld>
            <a:endParaRPr lang="en-GB"/>
          </a:p>
        </p:txBody>
      </p:sp>
    </p:spTree>
    <p:extLst>
      <p:ext uri="{BB962C8B-B14F-4D97-AF65-F5344CB8AC3E}">
        <p14:creationId xmlns:p14="http://schemas.microsoft.com/office/powerpoint/2010/main" val="4134036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F0835E7F-F649-4972-80DB-8867AAABC38F}" type="datetime1">
              <a:rPr lang="en-GB" smtClean="0"/>
              <a:t>03/02/2026</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dirty="0"/>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312CC964-A50B-4C29-B4E4-2C30BB34CCF3}" type="slidenum">
              <a:rPr lang="en-US" smtClean="0"/>
              <a:t>‹N›</a:t>
            </a:fld>
            <a:endParaRPr lang="en-US"/>
          </a:p>
        </p:txBody>
      </p:sp>
    </p:spTree>
    <p:extLst>
      <p:ext uri="{BB962C8B-B14F-4D97-AF65-F5344CB8AC3E}">
        <p14:creationId xmlns:p14="http://schemas.microsoft.com/office/powerpoint/2010/main" val="134405152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hf hdr="0" ftr="0" dt="0"/>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62B81A5-F09A-0874-8FA0-0C91E51F5F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endParaRPr lang="en-GB"/>
          </a:p>
        </p:txBody>
      </p:sp>
      <p:sp>
        <p:nvSpPr>
          <p:cNvPr id="3" name="Segnaposto testo 2">
            <a:extLst>
              <a:ext uri="{FF2B5EF4-FFF2-40B4-BE49-F238E27FC236}">
                <a16:creationId xmlns:a16="http://schemas.microsoft.com/office/drawing/2014/main" id="{77D231BC-1A06-3949-B32C-F5DACFEFFA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a:extLst>
              <a:ext uri="{FF2B5EF4-FFF2-40B4-BE49-F238E27FC236}">
                <a16:creationId xmlns:a16="http://schemas.microsoft.com/office/drawing/2014/main" id="{4BEAF052-D00E-F411-236F-C5B3521B78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610E49-A7EE-4EC3-B40D-2E192D6A6567}" type="datetime1">
              <a:rPr lang="en-GB" smtClean="0"/>
              <a:t>03/02/2026</a:t>
            </a:fld>
            <a:endParaRPr lang="en-GB"/>
          </a:p>
        </p:txBody>
      </p:sp>
      <p:sp>
        <p:nvSpPr>
          <p:cNvPr id="5" name="Segnaposto piè di pagina 4">
            <a:extLst>
              <a:ext uri="{FF2B5EF4-FFF2-40B4-BE49-F238E27FC236}">
                <a16:creationId xmlns:a16="http://schemas.microsoft.com/office/drawing/2014/main" id="{0A3E1540-8921-1408-AECF-C8F7E41310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egnaposto numero diapositiva 5">
            <a:extLst>
              <a:ext uri="{FF2B5EF4-FFF2-40B4-BE49-F238E27FC236}">
                <a16:creationId xmlns:a16="http://schemas.microsoft.com/office/drawing/2014/main" id="{570667A3-AB44-3B54-605B-B37EAEA14C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DFA317-9872-4CA4-AEEB-C3769785CDD8}" type="slidenum">
              <a:rPr lang="en-GB" smtClean="0"/>
              <a:t>‹N›</a:t>
            </a:fld>
            <a:endParaRPr lang="en-GB"/>
          </a:p>
        </p:txBody>
      </p:sp>
    </p:spTree>
    <p:extLst>
      <p:ext uri="{BB962C8B-B14F-4D97-AF65-F5344CB8AC3E}">
        <p14:creationId xmlns:p14="http://schemas.microsoft.com/office/powerpoint/2010/main" val="3908363320"/>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customXml" Target="../ink/ink1.xml"/><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5" name="Rectangle 1044">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C3AAB4D9-12BD-5806-E835-024BF9F21537}"/>
              </a:ext>
            </a:extLst>
          </p:cNvPr>
          <p:cNvSpPr>
            <a:spLocks noGrp="1"/>
          </p:cNvSpPr>
          <p:nvPr>
            <p:ph type="ctrTitle"/>
          </p:nvPr>
        </p:nvSpPr>
        <p:spPr>
          <a:xfrm>
            <a:off x="6602383" y="1662848"/>
            <a:ext cx="5607511" cy="3520350"/>
          </a:xfrm>
        </p:spPr>
        <p:txBody>
          <a:bodyPr rtlCol="0" anchor="t">
            <a:normAutofit/>
          </a:bodyPr>
          <a:lstStyle/>
          <a:p>
            <a:br>
              <a:rPr lang="en-US" sz="3200" b="1" dirty="0">
                <a:solidFill>
                  <a:schemeClr val="tx1"/>
                </a:solidFill>
                <a:latin typeface="Bookman Old Style" panose="02050604050505020204" pitchFamily="18" charset="0"/>
              </a:rPr>
            </a:br>
            <a:r>
              <a:rPr lang="en-US" sz="3200" b="1" dirty="0">
                <a:solidFill>
                  <a:schemeClr val="tx1"/>
                </a:solidFill>
                <a:latin typeface="Bookman Old Style" panose="02050604050505020204" pitchFamily="18" charset="0"/>
              </a:rPr>
              <a:t>Hybrid Models for hyperspectral image classification</a:t>
            </a:r>
            <a:br>
              <a:rPr lang="en-US" sz="3200" dirty="0">
                <a:solidFill>
                  <a:schemeClr val="tx1"/>
                </a:solidFill>
                <a:latin typeface="Bookman Old Style" panose="02050604050505020204" pitchFamily="18" charset="0"/>
              </a:rPr>
            </a:br>
            <a:br>
              <a:rPr lang="en-US" sz="3200" dirty="0">
                <a:solidFill>
                  <a:schemeClr val="tx1"/>
                </a:solidFill>
                <a:latin typeface="Bookman Old Style" panose="02050604050505020204" pitchFamily="18" charset="0"/>
              </a:rPr>
            </a:br>
            <a:endParaRPr lang="it" sz="3200" dirty="0">
              <a:solidFill>
                <a:schemeClr val="tx1"/>
              </a:solidFill>
              <a:latin typeface="Bookman Old Style" panose="02050604050505020204" pitchFamily="18" charset="0"/>
            </a:endParaRPr>
          </a:p>
        </p:txBody>
      </p:sp>
      <p:sp>
        <p:nvSpPr>
          <p:cNvPr id="1052" name="Freeform: Shape 1046">
            <a:extLst>
              <a:ext uri="{FF2B5EF4-FFF2-40B4-BE49-F238E27FC236}">
                <a16:creationId xmlns:a16="http://schemas.microsoft.com/office/drawing/2014/main" id="{ED61EC8C-9F54-4671-8E82-4AE6101D6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5"/>
            <a:ext cx="4584879" cy="6863976"/>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Lst>
            <a:ahLst/>
            <a:cxnLst>
              <a:cxn ang="0">
                <a:pos x="connsiteX0" y="connsiteY0"/>
              </a:cxn>
              <a:cxn ang="0">
                <a:pos x="connsiteX1" y="connsiteY1"/>
              </a:cxn>
              <a:cxn ang="0">
                <a:pos x="connsiteX2" y="connsiteY2"/>
              </a:cxn>
              <a:cxn ang="0">
                <a:pos x="connsiteX3" y="connsiteY3"/>
              </a:cxn>
            </a:cxnLst>
            <a:rect l="l" t="t" r="r" b="b"/>
            <a:pathLst>
              <a:path w="4584879" h="6863976">
                <a:moveTo>
                  <a:pt x="0" y="0"/>
                </a:moveTo>
                <a:lnTo>
                  <a:pt x="4584879" y="0"/>
                </a:lnTo>
                <a:lnTo>
                  <a:pt x="2493114" y="6863976"/>
                </a:lnTo>
                <a:lnTo>
                  <a:pt x="0" y="6863976"/>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053" name="Straight Connector 1048">
            <a:extLst>
              <a:ext uri="{FF2B5EF4-FFF2-40B4-BE49-F238E27FC236}">
                <a16:creationId xmlns:a16="http://schemas.microsoft.com/office/drawing/2014/main" id="{8557940A-71CE-48E1-BD71-2BEF15613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10013" y="-8965"/>
            <a:ext cx="708298" cy="686995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51" name="Straight Connector 1050">
            <a:extLst>
              <a:ext uri="{FF2B5EF4-FFF2-40B4-BE49-F238E27FC236}">
                <a16:creationId xmlns:a16="http://schemas.microsoft.com/office/drawing/2014/main" id="{4777C915-01E5-4C85-B3BF-7BF7CC3FE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401236"/>
            <a:ext cx="4011413" cy="345676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1034" name="Picture 10">
            <a:extLst>
              <a:ext uri="{FF2B5EF4-FFF2-40B4-BE49-F238E27FC236}">
                <a16:creationId xmlns:a16="http://schemas.microsoft.com/office/drawing/2014/main" id="{295666E5-4AE4-32C4-CF77-D4B7123200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8314" y="140720"/>
            <a:ext cx="1490673" cy="448444"/>
          </a:xfrm>
          <a:prstGeom prst="rect">
            <a:avLst/>
          </a:prstGeom>
          <a:noFill/>
          <a:extLst>
            <a:ext uri="{909E8E84-426E-40DD-AFC4-6F175D3DCCD1}">
              <a14:hiddenFill xmlns:a14="http://schemas.microsoft.com/office/drawing/2010/main">
                <a:solidFill>
                  <a:srgbClr val="FFFFFF"/>
                </a:solidFill>
              </a14:hiddenFill>
            </a:ext>
          </a:extLst>
        </p:spPr>
      </p:pic>
      <p:sp>
        <p:nvSpPr>
          <p:cNvPr id="7" name="CasellaDiTesto 6">
            <a:extLst>
              <a:ext uri="{FF2B5EF4-FFF2-40B4-BE49-F238E27FC236}">
                <a16:creationId xmlns:a16="http://schemas.microsoft.com/office/drawing/2014/main" id="{8754559F-6785-742B-FC5A-3E786D539C89}"/>
              </a:ext>
            </a:extLst>
          </p:cNvPr>
          <p:cNvSpPr txBox="1"/>
          <p:nvPr/>
        </p:nvSpPr>
        <p:spPr>
          <a:xfrm>
            <a:off x="107273" y="5709205"/>
            <a:ext cx="3018503" cy="646331"/>
          </a:xfrm>
          <a:prstGeom prst="rect">
            <a:avLst/>
          </a:prstGeom>
          <a:noFill/>
        </p:spPr>
        <p:txBody>
          <a:bodyPr wrap="square" rtlCol="0">
            <a:spAutoFit/>
          </a:bodyPr>
          <a:lstStyle/>
          <a:p>
            <a:pPr algn="just"/>
            <a:r>
              <a:rPr lang="en-GB" b="1" dirty="0"/>
              <a:t>Author</a:t>
            </a:r>
            <a:r>
              <a:rPr lang="en-GB" dirty="0"/>
              <a:t>: Samuele Tomassacci</a:t>
            </a:r>
          </a:p>
          <a:p>
            <a:pPr algn="just"/>
            <a:r>
              <a:rPr lang="en-GB" b="1" dirty="0"/>
              <a:t>Student ID </a:t>
            </a:r>
            <a:r>
              <a:rPr lang="en-GB" dirty="0"/>
              <a:t>: 2216267</a:t>
            </a:r>
          </a:p>
        </p:txBody>
      </p:sp>
      <p:sp>
        <p:nvSpPr>
          <p:cNvPr id="8" name="CasellaDiTesto 7">
            <a:extLst>
              <a:ext uri="{FF2B5EF4-FFF2-40B4-BE49-F238E27FC236}">
                <a16:creationId xmlns:a16="http://schemas.microsoft.com/office/drawing/2014/main" id="{7D5747EF-C9AD-3BFB-C74B-DD0FB19F2AD1}"/>
              </a:ext>
            </a:extLst>
          </p:cNvPr>
          <p:cNvSpPr txBox="1"/>
          <p:nvPr/>
        </p:nvSpPr>
        <p:spPr>
          <a:xfrm>
            <a:off x="8193418" y="3520767"/>
            <a:ext cx="2425440" cy="369332"/>
          </a:xfrm>
          <a:prstGeom prst="rect">
            <a:avLst/>
          </a:prstGeom>
          <a:noFill/>
        </p:spPr>
        <p:txBody>
          <a:bodyPr wrap="square" rtlCol="0">
            <a:spAutoFit/>
          </a:bodyPr>
          <a:lstStyle/>
          <a:p>
            <a:pPr algn="just"/>
            <a:r>
              <a:rPr lang="en-GB" b="1" dirty="0"/>
              <a:t>Course</a:t>
            </a:r>
            <a:r>
              <a:rPr lang="en-GB" dirty="0"/>
              <a:t>: Neural Networks</a:t>
            </a:r>
          </a:p>
        </p:txBody>
      </p:sp>
      <p:sp>
        <p:nvSpPr>
          <p:cNvPr id="2" name="CasellaDiTesto 1">
            <a:extLst>
              <a:ext uri="{FF2B5EF4-FFF2-40B4-BE49-F238E27FC236}">
                <a16:creationId xmlns:a16="http://schemas.microsoft.com/office/drawing/2014/main" id="{F0CFD01E-9D58-3BD1-8886-80F7DCFBEA57}"/>
              </a:ext>
            </a:extLst>
          </p:cNvPr>
          <p:cNvSpPr txBox="1"/>
          <p:nvPr/>
        </p:nvSpPr>
        <p:spPr>
          <a:xfrm>
            <a:off x="8232564" y="3890099"/>
            <a:ext cx="2347148" cy="369332"/>
          </a:xfrm>
          <a:prstGeom prst="rect">
            <a:avLst/>
          </a:prstGeom>
          <a:noFill/>
        </p:spPr>
        <p:txBody>
          <a:bodyPr wrap="square" rtlCol="0">
            <a:spAutoFit/>
          </a:bodyPr>
          <a:lstStyle/>
          <a:p>
            <a:pPr algn="just"/>
            <a:r>
              <a:rPr lang="en-GB" b="1" dirty="0"/>
              <a:t>Exam date</a:t>
            </a:r>
            <a:r>
              <a:rPr lang="en-GB" dirty="0"/>
              <a:t>: 06/02/2026</a:t>
            </a:r>
          </a:p>
        </p:txBody>
      </p:sp>
      <p:pic>
        <p:nvPicPr>
          <p:cNvPr id="1028" name="Picture 4" descr="Hyperspectral Airborne Remote Sensing Systems - Resonon">
            <a:extLst>
              <a:ext uri="{FF2B5EF4-FFF2-40B4-BE49-F238E27FC236}">
                <a16:creationId xmlns:a16="http://schemas.microsoft.com/office/drawing/2014/main" id="{6060AC0C-157D-AF35-C1FA-5DC9328FFE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772" y="1443772"/>
            <a:ext cx="6342465" cy="329015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0271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03F8B-EC19-B3F4-5457-CCBB277A6913}"/>
            </a:ext>
          </a:extLst>
        </p:cNvPr>
        <p:cNvGrpSpPr/>
        <p:nvPr/>
      </p:nvGrpSpPr>
      <p:grpSpPr>
        <a:xfrm>
          <a:off x="0" y="0"/>
          <a:ext cx="0" cy="0"/>
          <a:chOff x="0" y="0"/>
          <a:chExt cx="0" cy="0"/>
        </a:xfrm>
      </p:grpSpPr>
      <p:pic>
        <p:nvPicPr>
          <p:cNvPr id="2053" name="Immagine 2052" descr="Immagine che contiene design, busta, statico&#10;&#10;Il contenuto generato dall'IA potrebbe non essere corretto.">
            <a:extLst>
              <a:ext uri="{FF2B5EF4-FFF2-40B4-BE49-F238E27FC236}">
                <a16:creationId xmlns:a16="http://schemas.microsoft.com/office/drawing/2014/main" id="{03DB6253-5601-FF3B-86E3-25BC9C88A422}"/>
              </a:ext>
            </a:extLst>
          </p:cNvPr>
          <p:cNvPicPr>
            <a:picLocks noChangeAspect="1"/>
          </p:cNvPicPr>
          <p:nvPr/>
        </p:nvPicPr>
        <p:blipFill>
          <a:blip r:embed="rId2"/>
          <a:srcRect l="11707" t="9332" r="105"/>
          <a:stretch>
            <a:fillRect/>
          </a:stretch>
        </p:blipFill>
        <p:spPr>
          <a:xfrm>
            <a:off x="0" y="1"/>
            <a:ext cx="1094960" cy="2066544"/>
          </a:xfrm>
          <a:prstGeom prst="rect">
            <a:avLst/>
          </a:prstGeom>
        </p:spPr>
      </p:pic>
      <p:sp>
        <p:nvSpPr>
          <p:cNvPr id="2" name="Segnaposto numero diapositiva 1">
            <a:extLst>
              <a:ext uri="{FF2B5EF4-FFF2-40B4-BE49-F238E27FC236}">
                <a16:creationId xmlns:a16="http://schemas.microsoft.com/office/drawing/2014/main" id="{D3EE1BCC-855A-DE77-A593-3CA4F0B4A986}"/>
              </a:ext>
            </a:extLst>
          </p:cNvPr>
          <p:cNvSpPr>
            <a:spLocks noGrp="1"/>
          </p:cNvSpPr>
          <p:nvPr>
            <p:ph type="sldNum" sz="quarter" idx="12"/>
          </p:nvPr>
        </p:nvSpPr>
        <p:spPr>
          <a:xfrm>
            <a:off x="188534" y="6512928"/>
            <a:ext cx="11787433" cy="365125"/>
          </a:xfrm>
        </p:spPr>
        <p:txBody>
          <a:bodyPr/>
          <a:lstStyle/>
          <a:p>
            <a:fld id="{6BDFA317-9872-4CA4-AEEB-C3769785CDD8}" type="slidenum">
              <a:rPr lang="en-GB" smtClean="0"/>
              <a:t>2</a:t>
            </a:fld>
            <a:endParaRPr lang="en-GB" dirty="0"/>
          </a:p>
        </p:txBody>
      </p:sp>
      <p:sp>
        <p:nvSpPr>
          <p:cNvPr id="4" name="Segnaposto numero diapositiva 1">
            <a:extLst>
              <a:ext uri="{FF2B5EF4-FFF2-40B4-BE49-F238E27FC236}">
                <a16:creationId xmlns:a16="http://schemas.microsoft.com/office/drawing/2014/main" id="{D297F69F-E903-786A-895C-875FE92C7016}"/>
              </a:ext>
            </a:extLst>
          </p:cNvPr>
          <p:cNvSpPr txBox="1">
            <a:spLocks/>
          </p:cNvSpPr>
          <p:nvPr/>
        </p:nvSpPr>
        <p:spPr>
          <a:xfrm>
            <a:off x="9144" y="6512928"/>
            <a:ext cx="1591559"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Samuele Tomassacci</a:t>
            </a:r>
          </a:p>
        </p:txBody>
      </p:sp>
      <p:sp>
        <p:nvSpPr>
          <p:cNvPr id="5" name="Segnaposto numero diapositiva 1">
            <a:extLst>
              <a:ext uri="{FF2B5EF4-FFF2-40B4-BE49-F238E27FC236}">
                <a16:creationId xmlns:a16="http://schemas.microsoft.com/office/drawing/2014/main" id="{6F68DDD3-0AEF-9917-62F4-58D867057C99}"/>
              </a:ext>
            </a:extLst>
          </p:cNvPr>
          <p:cNvSpPr txBox="1">
            <a:spLocks/>
          </p:cNvSpPr>
          <p:nvPr/>
        </p:nvSpPr>
        <p:spPr>
          <a:xfrm>
            <a:off x="5443586" y="6512928"/>
            <a:ext cx="1304828"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Neural Networks</a:t>
            </a:r>
          </a:p>
        </p:txBody>
      </p:sp>
      <p:pic>
        <p:nvPicPr>
          <p:cNvPr id="9" name="Picture 10">
            <a:extLst>
              <a:ext uri="{FF2B5EF4-FFF2-40B4-BE49-F238E27FC236}">
                <a16:creationId xmlns:a16="http://schemas.microsoft.com/office/drawing/2014/main" id="{22F17389-5811-2995-34BA-A74B7A59C1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0034" y="98818"/>
            <a:ext cx="1490673" cy="448444"/>
          </a:xfrm>
          <a:prstGeom prst="rect">
            <a:avLst/>
          </a:prstGeom>
          <a:noFill/>
          <a:extLst>
            <a:ext uri="{909E8E84-426E-40DD-AFC4-6F175D3DCCD1}">
              <a14:hiddenFill xmlns:a14="http://schemas.microsoft.com/office/drawing/2010/main">
                <a:solidFill>
                  <a:srgbClr val="FFFFFF"/>
                </a:solidFill>
              </a14:hiddenFill>
            </a:ext>
          </a:extLst>
        </p:spPr>
      </p:pic>
      <p:sp>
        <p:nvSpPr>
          <p:cNvPr id="10" name="Titolo 1">
            <a:extLst>
              <a:ext uri="{FF2B5EF4-FFF2-40B4-BE49-F238E27FC236}">
                <a16:creationId xmlns:a16="http://schemas.microsoft.com/office/drawing/2014/main" id="{DC492ADE-0718-9420-8C96-843CB0E34BCC}"/>
              </a:ext>
            </a:extLst>
          </p:cNvPr>
          <p:cNvSpPr>
            <a:spLocks noGrp="1"/>
          </p:cNvSpPr>
          <p:nvPr>
            <p:ph type="ctrTitle"/>
          </p:nvPr>
        </p:nvSpPr>
        <p:spPr>
          <a:xfrm>
            <a:off x="2394627" y="-11626"/>
            <a:ext cx="7097943" cy="683218"/>
          </a:xfrm>
        </p:spPr>
        <p:txBody>
          <a:bodyPr rtlCol="0" anchor="t">
            <a:noAutofit/>
          </a:bodyPr>
          <a:lstStyle/>
          <a:p>
            <a:r>
              <a:rPr lang="en-US" sz="4400" b="1" dirty="0">
                <a:latin typeface="Bookman Old Style" panose="02050604050505020204" pitchFamily="18" charset="0"/>
              </a:rPr>
              <a:t>Definition of the task</a:t>
            </a:r>
            <a:br>
              <a:rPr lang="en-US" sz="4400" b="1" dirty="0">
                <a:solidFill>
                  <a:schemeClr val="tx1"/>
                </a:solidFill>
                <a:latin typeface="Bookman Old Style" panose="02050604050505020204" pitchFamily="18" charset="0"/>
              </a:rPr>
            </a:br>
            <a:br>
              <a:rPr lang="en-US" sz="4400" b="1" dirty="0">
                <a:solidFill>
                  <a:schemeClr val="tx1"/>
                </a:solidFill>
                <a:latin typeface="Bookman Old Style" panose="02050604050505020204" pitchFamily="18" charset="0"/>
              </a:rPr>
            </a:br>
            <a:endParaRPr lang="it" sz="4400" b="1" dirty="0">
              <a:solidFill>
                <a:schemeClr val="tx1"/>
              </a:solidFill>
              <a:latin typeface="Bookman Old Style" panose="02050604050505020204" pitchFamily="18" charset="0"/>
            </a:endParaRPr>
          </a:p>
        </p:txBody>
      </p:sp>
      <p:cxnSp>
        <p:nvCxnSpPr>
          <p:cNvPr id="12" name="Connettore diritto 11">
            <a:extLst>
              <a:ext uri="{FF2B5EF4-FFF2-40B4-BE49-F238E27FC236}">
                <a16:creationId xmlns:a16="http://schemas.microsoft.com/office/drawing/2014/main" id="{D5735583-20D8-0E31-6410-FDD7EA1CD024}"/>
              </a:ext>
            </a:extLst>
          </p:cNvPr>
          <p:cNvCxnSpPr>
            <a:cxnSpLocks/>
          </p:cNvCxnSpPr>
          <p:nvPr/>
        </p:nvCxnSpPr>
        <p:spPr>
          <a:xfrm>
            <a:off x="2926080" y="671592"/>
            <a:ext cx="6151688"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22" name="AutoShape 2" descr="5 Best Free Google Slides Space Theme - MasterBundles">
            <a:extLst>
              <a:ext uri="{FF2B5EF4-FFF2-40B4-BE49-F238E27FC236}">
                <a16:creationId xmlns:a16="http://schemas.microsoft.com/office/drawing/2014/main" id="{ADCA303F-39BA-7B52-80A1-C773F3546B8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cxnSp>
        <p:nvCxnSpPr>
          <p:cNvPr id="3" name="Connettore diritto 2">
            <a:extLst>
              <a:ext uri="{FF2B5EF4-FFF2-40B4-BE49-F238E27FC236}">
                <a16:creationId xmlns:a16="http://schemas.microsoft.com/office/drawing/2014/main" id="{32FCEFC7-CD93-D4C5-0956-4BC9276ED2EF}"/>
              </a:ext>
            </a:extLst>
          </p:cNvPr>
          <p:cNvCxnSpPr>
            <a:cxnSpLocks/>
          </p:cNvCxnSpPr>
          <p:nvPr/>
        </p:nvCxnSpPr>
        <p:spPr>
          <a:xfrm>
            <a:off x="0" y="6512928"/>
            <a:ext cx="12192000"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7" name="CasellaDiTesto 6">
            <a:extLst>
              <a:ext uri="{FF2B5EF4-FFF2-40B4-BE49-F238E27FC236}">
                <a16:creationId xmlns:a16="http://schemas.microsoft.com/office/drawing/2014/main" id="{D6F3DA3E-0507-0A9A-F2EE-F4D9AE48AC71}"/>
              </a:ext>
            </a:extLst>
          </p:cNvPr>
          <p:cNvSpPr txBox="1"/>
          <p:nvPr/>
        </p:nvSpPr>
        <p:spPr>
          <a:xfrm>
            <a:off x="1261155" y="725179"/>
            <a:ext cx="9481538" cy="707886"/>
          </a:xfrm>
          <a:prstGeom prst="rect">
            <a:avLst/>
          </a:prstGeom>
          <a:noFill/>
        </p:spPr>
        <p:txBody>
          <a:bodyPr wrap="square" rtlCol="0">
            <a:spAutoFit/>
          </a:bodyPr>
          <a:lstStyle/>
          <a:p>
            <a:pPr algn="ctr"/>
            <a:r>
              <a:rPr lang="en-US" sz="2000" dirty="0">
                <a:solidFill>
                  <a:prstClr val="black"/>
                </a:solidFill>
                <a:latin typeface="Univers Condensed Light"/>
              </a:rPr>
              <a:t>The reference paper is "</a:t>
            </a:r>
            <a:r>
              <a:rPr lang="en-US" sz="2000" b="1" dirty="0">
                <a:solidFill>
                  <a:prstClr val="black"/>
                </a:solidFill>
                <a:latin typeface="Univers Condensed Light"/>
              </a:rPr>
              <a:t>CNN-Transformer and Channel-Spatial Attention based network for hyperspectral image classification with few samples</a:t>
            </a:r>
            <a:r>
              <a:rPr lang="en-US" sz="2000" dirty="0">
                <a:solidFill>
                  <a:prstClr val="black"/>
                </a:solidFill>
                <a:latin typeface="Univers Condensed Light"/>
              </a:rPr>
              <a:t>“[1]</a:t>
            </a:r>
            <a:r>
              <a:rPr lang="en-GB" sz="2000" dirty="0">
                <a:solidFill>
                  <a:prstClr val="black"/>
                </a:solidFill>
                <a:latin typeface="Univers Condensed Light"/>
              </a:rPr>
              <a:t> </a:t>
            </a:r>
          </a:p>
        </p:txBody>
      </p:sp>
      <p:sp>
        <p:nvSpPr>
          <p:cNvPr id="8" name="Freccia a destra 7">
            <a:extLst>
              <a:ext uri="{FF2B5EF4-FFF2-40B4-BE49-F238E27FC236}">
                <a16:creationId xmlns:a16="http://schemas.microsoft.com/office/drawing/2014/main" id="{1F41B628-4921-B3A1-B786-66D9D04B39A6}"/>
              </a:ext>
            </a:extLst>
          </p:cNvPr>
          <p:cNvSpPr/>
          <p:nvPr/>
        </p:nvSpPr>
        <p:spPr>
          <a:xfrm rot="5400000">
            <a:off x="5735064" y="1658452"/>
            <a:ext cx="562483" cy="304770"/>
          </a:xfrm>
          <a:prstGeom prst="rightArrow">
            <a:avLst/>
          </a:prstGeom>
          <a:solidFill>
            <a:srgbClr val="822433"/>
          </a:solidFill>
          <a:ln>
            <a:noFill/>
          </a:ln>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dirty="0"/>
          </a:p>
        </p:txBody>
      </p:sp>
      <p:sp>
        <p:nvSpPr>
          <p:cNvPr id="11" name="CasellaDiTesto 10">
            <a:extLst>
              <a:ext uri="{FF2B5EF4-FFF2-40B4-BE49-F238E27FC236}">
                <a16:creationId xmlns:a16="http://schemas.microsoft.com/office/drawing/2014/main" id="{43AE8B64-BA98-5F42-434E-EC7571360FD1}"/>
              </a:ext>
            </a:extLst>
          </p:cNvPr>
          <p:cNvSpPr txBox="1"/>
          <p:nvPr/>
        </p:nvSpPr>
        <p:spPr>
          <a:xfrm>
            <a:off x="2764668" y="2149760"/>
            <a:ext cx="6503274" cy="707886"/>
          </a:xfrm>
          <a:prstGeom prst="rect">
            <a:avLst/>
          </a:prstGeom>
          <a:noFill/>
        </p:spPr>
        <p:txBody>
          <a:bodyPr wrap="square" rtlCol="0">
            <a:spAutoFit/>
          </a:bodyPr>
          <a:lstStyle/>
          <a:p>
            <a:pPr algn="ctr"/>
            <a:r>
              <a:rPr lang="en-US" sz="2000" dirty="0">
                <a:solidFill>
                  <a:prstClr val="black"/>
                </a:solidFill>
                <a:latin typeface="Univers Condensed Light"/>
              </a:rPr>
              <a:t>The paper addresses a pixel-level classification task on hyperspectral imagery</a:t>
            </a:r>
            <a:endParaRPr lang="en-GB" sz="2000" dirty="0">
              <a:solidFill>
                <a:prstClr val="black"/>
              </a:solidFill>
              <a:latin typeface="Univers Condensed Light"/>
            </a:endParaRPr>
          </a:p>
        </p:txBody>
      </p:sp>
      <p:cxnSp>
        <p:nvCxnSpPr>
          <p:cNvPr id="13" name="Connettore 2 12">
            <a:extLst>
              <a:ext uri="{FF2B5EF4-FFF2-40B4-BE49-F238E27FC236}">
                <a16:creationId xmlns:a16="http://schemas.microsoft.com/office/drawing/2014/main" id="{5CD15F16-A7E6-C2A8-98FE-509068E0EA23}"/>
              </a:ext>
            </a:extLst>
          </p:cNvPr>
          <p:cNvCxnSpPr>
            <a:cxnSpLocks/>
          </p:cNvCxnSpPr>
          <p:nvPr/>
        </p:nvCxnSpPr>
        <p:spPr>
          <a:xfrm>
            <a:off x="8027729" y="3240578"/>
            <a:ext cx="1399603" cy="273788"/>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5" name="Connettore 2 14">
            <a:extLst>
              <a:ext uri="{FF2B5EF4-FFF2-40B4-BE49-F238E27FC236}">
                <a16:creationId xmlns:a16="http://schemas.microsoft.com/office/drawing/2014/main" id="{3D0BC0EE-111A-E9AF-767E-C877C6B9102A}"/>
              </a:ext>
            </a:extLst>
          </p:cNvPr>
          <p:cNvCxnSpPr>
            <a:cxnSpLocks/>
          </p:cNvCxnSpPr>
          <p:nvPr/>
        </p:nvCxnSpPr>
        <p:spPr>
          <a:xfrm flipV="1">
            <a:off x="8027729" y="2688369"/>
            <a:ext cx="1399603" cy="398268"/>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21" name="CasellaDiTesto 20">
            <a:extLst>
              <a:ext uri="{FF2B5EF4-FFF2-40B4-BE49-F238E27FC236}">
                <a16:creationId xmlns:a16="http://schemas.microsoft.com/office/drawing/2014/main" id="{F0376933-96BA-85E9-6FBE-071EBE486CC0}"/>
              </a:ext>
            </a:extLst>
          </p:cNvPr>
          <p:cNvSpPr txBox="1"/>
          <p:nvPr/>
        </p:nvSpPr>
        <p:spPr>
          <a:xfrm>
            <a:off x="4181294" y="2941709"/>
            <a:ext cx="3670021" cy="400110"/>
          </a:xfrm>
          <a:prstGeom prst="rect">
            <a:avLst/>
          </a:prstGeom>
          <a:noFill/>
        </p:spPr>
        <p:txBody>
          <a:bodyPr wrap="square" rtlCol="0">
            <a:spAutoFit/>
          </a:bodyPr>
          <a:lstStyle/>
          <a:p>
            <a:pPr algn="ctr"/>
            <a:r>
              <a:rPr lang="en-GB" sz="2000" dirty="0">
                <a:solidFill>
                  <a:prstClr val="black"/>
                </a:solidFill>
                <a:latin typeface="Univers Condensed Light"/>
              </a:rPr>
              <a:t>Two main challenges are faced:</a:t>
            </a:r>
          </a:p>
        </p:txBody>
      </p:sp>
      <p:sp>
        <p:nvSpPr>
          <p:cNvPr id="23" name="CasellaDiTesto 22">
            <a:extLst>
              <a:ext uri="{FF2B5EF4-FFF2-40B4-BE49-F238E27FC236}">
                <a16:creationId xmlns:a16="http://schemas.microsoft.com/office/drawing/2014/main" id="{4497AEC3-2217-10F2-CAF3-7BEBC17AC851}"/>
              </a:ext>
            </a:extLst>
          </p:cNvPr>
          <p:cNvSpPr txBox="1"/>
          <p:nvPr/>
        </p:nvSpPr>
        <p:spPr>
          <a:xfrm>
            <a:off x="9427332" y="3327596"/>
            <a:ext cx="2264598" cy="369332"/>
          </a:xfrm>
          <a:prstGeom prst="rect">
            <a:avLst/>
          </a:prstGeom>
          <a:noFill/>
        </p:spPr>
        <p:txBody>
          <a:bodyPr wrap="square" rtlCol="0">
            <a:spAutoFit/>
          </a:bodyPr>
          <a:lstStyle/>
          <a:p>
            <a:pPr algn="ctr"/>
            <a:r>
              <a:rPr lang="en-GB" b="1" dirty="0">
                <a:solidFill>
                  <a:prstClr val="black"/>
                </a:solidFill>
                <a:latin typeface="Univers Condensed Light"/>
              </a:rPr>
              <a:t>Curse of Dimensionality</a:t>
            </a:r>
          </a:p>
        </p:txBody>
      </p:sp>
      <p:sp>
        <p:nvSpPr>
          <p:cNvPr id="24" name="CasellaDiTesto 23">
            <a:extLst>
              <a:ext uri="{FF2B5EF4-FFF2-40B4-BE49-F238E27FC236}">
                <a16:creationId xmlns:a16="http://schemas.microsoft.com/office/drawing/2014/main" id="{3A369A44-89C7-8262-3134-8D03439A8873}"/>
              </a:ext>
            </a:extLst>
          </p:cNvPr>
          <p:cNvSpPr txBox="1"/>
          <p:nvPr/>
        </p:nvSpPr>
        <p:spPr>
          <a:xfrm>
            <a:off x="9430254" y="2488314"/>
            <a:ext cx="2264598" cy="369332"/>
          </a:xfrm>
          <a:prstGeom prst="rect">
            <a:avLst/>
          </a:prstGeom>
          <a:noFill/>
        </p:spPr>
        <p:txBody>
          <a:bodyPr wrap="square" rtlCol="0">
            <a:spAutoFit/>
          </a:bodyPr>
          <a:lstStyle/>
          <a:p>
            <a:pPr algn="ctr"/>
            <a:r>
              <a:rPr lang="en-GB" b="1" dirty="0">
                <a:solidFill>
                  <a:prstClr val="black"/>
                </a:solidFill>
                <a:latin typeface="Univers Condensed Light"/>
              </a:rPr>
              <a:t>Limited training samples</a:t>
            </a:r>
          </a:p>
        </p:txBody>
      </p:sp>
      <p:pic>
        <p:nvPicPr>
          <p:cNvPr id="2052" name="Picture 4" descr="Three levels of remote sensing image classification: (a) pixel-level... |  Download Scientific Diagram">
            <a:extLst>
              <a:ext uri="{FF2B5EF4-FFF2-40B4-BE49-F238E27FC236}">
                <a16:creationId xmlns:a16="http://schemas.microsoft.com/office/drawing/2014/main" id="{F0B3967D-A326-9BCB-F035-7C46E93D41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0588" b="56094"/>
          <a:stretch>
            <a:fillRect/>
          </a:stretch>
        </p:blipFill>
        <p:spPr bwMode="auto">
          <a:xfrm>
            <a:off x="2924088" y="3651403"/>
            <a:ext cx="2287402" cy="224963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hree levels of remote sensing image classification: (a) pixel-level... |  Download Scientific Diagram">
            <a:extLst>
              <a:ext uri="{FF2B5EF4-FFF2-40B4-BE49-F238E27FC236}">
                <a16:creationId xmlns:a16="http://schemas.microsoft.com/office/drawing/2014/main" id="{E0E8ED8F-9A9A-6C90-161F-BBEDC9C57E9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8365" r="71229" b="7585"/>
          <a:stretch>
            <a:fillRect/>
          </a:stretch>
        </p:blipFill>
        <p:spPr bwMode="auto">
          <a:xfrm>
            <a:off x="6590156" y="3570834"/>
            <a:ext cx="2329354" cy="2349662"/>
          </a:xfrm>
          <a:prstGeom prst="rect">
            <a:avLst/>
          </a:prstGeom>
          <a:noFill/>
          <a:extLst>
            <a:ext uri="{909E8E84-426E-40DD-AFC4-6F175D3DCCD1}">
              <a14:hiddenFill xmlns:a14="http://schemas.microsoft.com/office/drawing/2010/main">
                <a:solidFill>
                  <a:srgbClr val="FFFFFF"/>
                </a:solidFill>
              </a14:hiddenFill>
            </a:ext>
          </a:extLst>
        </p:spPr>
      </p:pic>
      <p:sp>
        <p:nvSpPr>
          <p:cNvPr id="29" name="Freccia a destra 28">
            <a:extLst>
              <a:ext uri="{FF2B5EF4-FFF2-40B4-BE49-F238E27FC236}">
                <a16:creationId xmlns:a16="http://schemas.microsoft.com/office/drawing/2014/main" id="{37E8D7C2-4852-7A4A-8F22-39D1FC8429C0}"/>
              </a:ext>
            </a:extLst>
          </p:cNvPr>
          <p:cNvSpPr/>
          <p:nvPr/>
        </p:nvSpPr>
        <p:spPr>
          <a:xfrm>
            <a:off x="5541040" y="4530923"/>
            <a:ext cx="805119" cy="429485"/>
          </a:xfrm>
          <a:prstGeom prst="rightArrow">
            <a:avLst/>
          </a:prstGeom>
          <a:solidFill>
            <a:srgbClr val="822433"/>
          </a:solidFill>
          <a:ln>
            <a:noFill/>
          </a:ln>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dirty="0"/>
          </a:p>
        </p:txBody>
      </p:sp>
      <p:sp>
        <p:nvSpPr>
          <p:cNvPr id="30" name="CasellaDiTesto 29">
            <a:extLst>
              <a:ext uri="{FF2B5EF4-FFF2-40B4-BE49-F238E27FC236}">
                <a16:creationId xmlns:a16="http://schemas.microsoft.com/office/drawing/2014/main" id="{F094DD4E-DC5C-C634-1509-B315199D5DF4}"/>
              </a:ext>
            </a:extLst>
          </p:cNvPr>
          <p:cNvSpPr txBox="1"/>
          <p:nvPr/>
        </p:nvSpPr>
        <p:spPr>
          <a:xfrm>
            <a:off x="2188025" y="5868332"/>
            <a:ext cx="3670021" cy="400110"/>
          </a:xfrm>
          <a:prstGeom prst="rect">
            <a:avLst/>
          </a:prstGeom>
          <a:noFill/>
        </p:spPr>
        <p:txBody>
          <a:bodyPr wrap="square" rtlCol="0">
            <a:spAutoFit/>
          </a:bodyPr>
          <a:lstStyle/>
          <a:p>
            <a:pPr algn="ctr"/>
            <a:r>
              <a:rPr lang="en-GB" sz="2000" dirty="0">
                <a:solidFill>
                  <a:prstClr val="black"/>
                </a:solidFill>
                <a:latin typeface="Univers Condensed Light"/>
              </a:rPr>
              <a:t>Input</a:t>
            </a:r>
          </a:p>
        </p:txBody>
      </p:sp>
      <p:sp>
        <p:nvSpPr>
          <p:cNvPr id="31" name="CasellaDiTesto 30">
            <a:extLst>
              <a:ext uri="{FF2B5EF4-FFF2-40B4-BE49-F238E27FC236}">
                <a16:creationId xmlns:a16="http://schemas.microsoft.com/office/drawing/2014/main" id="{78B4FAE5-73E1-CF58-462F-7A4608E46CE7}"/>
              </a:ext>
            </a:extLst>
          </p:cNvPr>
          <p:cNvSpPr txBox="1"/>
          <p:nvPr/>
        </p:nvSpPr>
        <p:spPr>
          <a:xfrm>
            <a:off x="5876202" y="5856368"/>
            <a:ext cx="3670021" cy="400110"/>
          </a:xfrm>
          <a:prstGeom prst="rect">
            <a:avLst/>
          </a:prstGeom>
          <a:noFill/>
        </p:spPr>
        <p:txBody>
          <a:bodyPr wrap="square" rtlCol="0">
            <a:spAutoFit/>
          </a:bodyPr>
          <a:lstStyle/>
          <a:p>
            <a:pPr algn="ctr"/>
            <a:r>
              <a:rPr lang="en-GB" sz="2000" dirty="0">
                <a:solidFill>
                  <a:prstClr val="black"/>
                </a:solidFill>
                <a:latin typeface="Univers Condensed Light"/>
              </a:rPr>
              <a:t>Output</a:t>
            </a:r>
          </a:p>
        </p:txBody>
      </p:sp>
      <p:sp>
        <p:nvSpPr>
          <p:cNvPr id="17" name="CasellaDiTesto 16">
            <a:extLst>
              <a:ext uri="{FF2B5EF4-FFF2-40B4-BE49-F238E27FC236}">
                <a16:creationId xmlns:a16="http://schemas.microsoft.com/office/drawing/2014/main" id="{2BD51031-8274-CD21-A6CC-50E23B35FD5B}"/>
              </a:ext>
            </a:extLst>
          </p:cNvPr>
          <p:cNvSpPr txBox="1"/>
          <p:nvPr/>
        </p:nvSpPr>
        <p:spPr>
          <a:xfrm>
            <a:off x="9144" y="6242908"/>
            <a:ext cx="13074469" cy="246221"/>
          </a:xfrm>
          <a:prstGeom prst="rect">
            <a:avLst/>
          </a:prstGeom>
          <a:noFill/>
        </p:spPr>
        <p:txBody>
          <a:bodyPr wrap="square">
            <a:spAutoFit/>
          </a:bodyPr>
          <a:lstStyle/>
          <a:p>
            <a:r>
              <a:rPr lang="it-IT" sz="1000" i="1" dirty="0">
                <a:effectLst/>
                <a:latin typeface="Univers Condensed Light" panose="020B0306020202040204" pitchFamily="34" charset="0"/>
              </a:rPr>
              <a:t>[1] C. Fu, T. Zhou, T. </a:t>
            </a:r>
            <a:r>
              <a:rPr lang="it-IT" sz="1000" i="1" dirty="0" err="1">
                <a:effectLst/>
                <a:latin typeface="Univers Condensed Light" panose="020B0306020202040204" pitchFamily="34" charset="0"/>
              </a:rPr>
              <a:t>Guo</a:t>
            </a:r>
            <a:r>
              <a:rPr lang="it-IT" sz="1000" i="1" dirty="0">
                <a:effectLst/>
                <a:latin typeface="Univers Condensed Light" panose="020B0306020202040204" pitchFamily="34" charset="0"/>
              </a:rPr>
              <a:t>, Q. Zhu, F. </a:t>
            </a:r>
            <a:r>
              <a:rPr lang="it-IT" sz="1000" i="1" dirty="0" err="1">
                <a:effectLst/>
                <a:latin typeface="Univers Condensed Light" panose="020B0306020202040204" pitchFamily="34" charset="0"/>
              </a:rPr>
              <a:t>Luo</a:t>
            </a:r>
            <a:r>
              <a:rPr lang="it-IT" sz="1000" i="1" dirty="0">
                <a:effectLst/>
                <a:latin typeface="Univers Condensed Light" panose="020B0306020202040204" pitchFamily="34" charset="0"/>
              </a:rPr>
              <a:t>, and B. </a:t>
            </a:r>
            <a:r>
              <a:rPr lang="it-IT" sz="1000" i="1" dirty="0" err="1">
                <a:effectLst/>
                <a:latin typeface="Univers Condensed Light" panose="020B0306020202040204" pitchFamily="34" charset="0"/>
              </a:rPr>
              <a:t>Du</a:t>
            </a:r>
            <a:r>
              <a:rPr lang="it-IT" sz="1000" i="1" dirty="0">
                <a:effectLst/>
                <a:latin typeface="Univers Condensed Light" panose="020B0306020202040204" pitchFamily="34" charset="0"/>
              </a:rPr>
              <a:t>, "CNN-Transformer and Channel-</a:t>
            </a:r>
            <a:r>
              <a:rPr lang="it-IT" sz="1000" i="1" dirty="0" err="1">
                <a:effectLst/>
                <a:latin typeface="Univers Condensed Light" panose="020B0306020202040204" pitchFamily="34" charset="0"/>
              </a:rPr>
              <a:t>Spatial</a:t>
            </a:r>
            <a:r>
              <a:rPr lang="it-IT" sz="1000" i="1" dirty="0">
                <a:effectLst/>
                <a:latin typeface="Univers Condensed Light" panose="020B0306020202040204" pitchFamily="34" charset="0"/>
              </a:rPr>
              <a:t> </a:t>
            </a:r>
            <a:r>
              <a:rPr lang="it-IT" sz="1000" i="1" dirty="0" err="1">
                <a:effectLst/>
                <a:latin typeface="Univers Condensed Light" panose="020B0306020202040204" pitchFamily="34" charset="0"/>
              </a:rPr>
              <a:t>Attention</a:t>
            </a:r>
            <a:r>
              <a:rPr lang="it-IT" sz="1000" i="1" dirty="0">
                <a:effectLst/>
                <a:latin typeface="Univers Condensed Light" panose="020B0306020202040204" pitchFamily="34" charset="0"/>
              </a:rPr>
              <a:t> </a:t>
            </a:r>
            <a:r>
              <a:rPr lang="it-IT" sz="1000" i="1" dirty="0" err="1">
                <a:effectLst/>
                <a:latin typeface="Univers Condensed Light" panose="020B0306020202040204" pitchFamily="34" charset="0"/>
              </a:rPr>
              <a:t>based</a:t>
            </a:r>
            <a:r>
              <a:rPr lang="it-IT" sz="1000" i="1" dirty="0">
                <a:effectLst/>
                <a:latin typeface="Univers Condensed Light" panose="020B0306020202040204" pitchFamily="34" charset="0"/>
              </a:rPr>
              <a:t> network for </a:t>
            </a:r>
            <a:r>
              <a:rPr lang="it-IT" sz="1000" i="1" dirty="0" err="1">
                <a:effectLst/>
                <a:latin typeface="Univers Condensed Light" panose="020B0306020202040204" pitchFamily="34" charset="0"/>
              </a:rPr>
              <a:t>hyperspectral</a:t>
            </a:r>
            <a:r>
              <a:rPr lang="it-IT" sz="1000" i="1" dirty="0">
                <a:effectLst/>
                <a:latin typeface="Univers Condensed Light" panose="020B0306020202040204" pitchFamily="34" charset="0"/>
              </a:rPr>
              <a:t> image </a:t>
            </a:r>
            <a:r>
              <a:rPr lang="it-IT" sz="1000" i="1" dirty="0" err="1">
                <a:effectLst/>
                <a:latin typeface="Univers Condensed Light" panose="020B0306020202040204" pitchFamily="34" charset="0"/>
              </a:rPr>
              <a:t>classification</a:t>
            </a:r>
            <a:r>
              <a:rPr lang="it-IT" sz="1000" i="1" dirty="0">
                <a:effectLst/>
                <a:latin typeface="Univers Condensed Light" panose="020B0306020202040204" pitchFamily="34" charset="0"/>
              </a:rPr>
              <a:t> with </a:t>
            </a:r>
            <a:r>
              <a:rPr lang="it-IT" sz="1000" i="1" dirty="0" err="1">
                <a:effectLst/>
                <a:latin typeface="Univers Condensed Light" panose="020B0306020202040204" pitchFamily="34" charset="0"/>
              </a:rPr>
              <a:t>few</a:t>
            </a:r>
            <a:r>
              <a:rPr lang="it-IT" sz="1000" i="1" dirty="0">
                <a:effectLst/>
                <a:latin typeface="Univers Condensed Light" panose="020B0306020202040204" pitchFamily="34" charset="0"/>
              </a:rPr>
              <a:t> samples," </a:t>
            </a:r>
            <a:r>
              <a:rPr lang="it-IT" sz="1000" i="1" dirty="0" err="1">
                <a:effectLst/>
                <a:latin typeface="Univers Condensed Light" panose="020B0306020202040204" pitchFamily="34" charset="0"/>
              </a:rPr>
              <a:t>Neural</a:t>
            </a:r>
            <a:r>
              <a:rPr lang="it-IT" sz="1000" i="1" dirty="0">
                <a:effectLst/>
                <a:latin typeface="Univers Condensed Light" panose="020B0306020202040204" pitchFamily="34" charset="0"/>
              </a:rPr>
              <a:t> Networks, vol. 186, art. no. 107283, 2025, </a:t>
            </a:r>
            <a:r>
              <a:rPr lang="it-IT" sz="1000" i="1" dirty="0" err="1">
                <a:effectLst/>
                <a:latin typeface="Univers Condensed Light" panose="020B0306020202040204" pitchFamily="34" charset="0"/>
              </a:rPr>
              <a:t>doi</a:t>
            </a:r>
            <a:r>
              <a:rPr lang="it-IT" sz="1000" i="1" dirty="0">
                <a:effectLst/>
                <a:latin typeface="Univers Condensed Light" panose="020B0306020202040204" pitchFamily="34" charset="0"/>
              </a:rPr>
              <a:t>: 10.1016/j.neunet.2025.107283</a:t>
            </a:r>
            <a:endParaRPr lang="en-GB" sz="1000" i="1" dirty="0">
              <a:latin typeface="Univers Condensed Light" panose="020B0306020202040204" pitchFamily="34" charset="0"/>
            </a:endParaRPr>
          </a:p>
        </p:txBody>
      </p:sp>
    </p:spTree>
    <p:extLst>
      <p:ext uri="{BB962C8B-B14F-4D97-AF65-F5344CB8AC3E}">
        <p14:creationId xmlns:p14="http://schemas.microsoft.com/office/powerpoint/2010/main" val="3789235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9C184-A511-E94A-52E3-7062B86ADC2F}"/>
            </a:ext>
          </a:extLst>
        </p:cNvPr>
        <p:cNvGrpSpPr/>
        <p:nvPr/>
      </p:nvGrpSpPr>
      <p:grpSpPr>
        <a:xfrm>
          <a:off x="0" y="0"/>
          <a:ext cx="0" cy="0"/>
          <a:chOff x="0" y="0"/>
          <a:chExt cx="0" cy="0"/>
        </a:xfrm>
      </p:grpSpPr>
      <p:pic>
        <p:nvPicPr>
          <p:cNvPr id="2053" name="Immagine 2052" descr="Immagine che contiene design, busta, statico&#10;&#10;Il contenuto generato dall'IA potrebbe non essere corretto.">
            <a:extLst>
              <a:ext uri="{FF2B5EF4-FFF2-40B4-BE49-F238E27FC236}">
                <a16:creationId xmlns:a16="http://schemas.microsoft.com/office/drawing/2014/main" id="{ADFF9931-99FC-5D17-B4E5-9DE9818C16DD}"/>
              </a:ext>
            </a:extLst>
          </p:cNvPr>
          <p:cNvPicPr>
            <a:picLocks noChangeAspect="1"/>
          </p:cNvPicPr>
          <p:nvPr/>
        </p:nvPicPr>
        <p:blipFill>
          <a:blip r:embed="rId2"/>
          <a:srcRect l="11707" t="9332" r="105"/>
          <a:stretch>
            <a:fillRect/>
          </a:stretch>
        </p:blipFill>
        <p:spPr>
          <a:xfrm>
            <a:off x="0" y="1"/>
            <a:ext cx="1094960" cy="2066544"/>
          </a:xfrm>
          <a:prstGeom prst="rect">
            <a:avLst/>
          </a:prstGeom>
        </p:spPr>
      </p:pic>
      <p:sp>
        <p:nvSpPr>
          <p:cNvPr id="2" name="Segnaposto numero diapositiva 1">
            <a:extLst>
              <a:ext uri="{FF2B5EF4-FFF2-40B4-BE49-F238E27FC236}">
                <a16:creationId xmlns:a16="http://schemas.microsoft.com/office/drawing/2014/main" id="{B95DE9C6-D2F2-A9D2-69AA-EC4BB3189F90}"/>
              </a:ext>
            </a:extLst>
          </p:cNvPr>
          <p:cNvSpPr>
            <a:spLocks noGrp="1"/>
          </p:cNvSpPr>
          <p:nvPr>
            <p:ph type="sldNum" sz="quarter" idx="12"/>
          </p:nvPr>
        </p:nvSpPr>
        <p:spPr>
          <a:xfrm>
            <a:off x="188534" y="6512928"/>
            <a:ext cx="11787433" cy="365125"/>
          </a:xfrm>
        </p:spPr>
        <p:txBody>
          <a:bodyPr/>
          <a:lstStyle/>
          <a:p>
            <a:fld id="{6BDFA317-9872-4CA4-AEEB-C3769785CDD8}" type="slidenum">
              <a:rPr lang="en-GB" smtClean="0"/>
              <a:t>3</a:t>
            </a:fld>
            <a:endParaRPr lang="en-GB" dirty="0"/>
          </a:p>
        </p:txBody>
      </p:sp>
      <p:sp>
        <p:nvSpPr>
          <p:cNvPr id="4" name="Segnaposto numero diapositiva 1">
            <a:extLst>
              <a:ext uri="{FF2B5EF4-FFF2-40B4-BE49-F238E27FC236}">
                <a16:creationId xmlns:a16="http://schemas.microsoft.com/office/drawing/2014/main" id="{3BB23330-9DCE-AFA0-1463-402290EE8E17}"/>
              </a:ext>
            </a:extLst>
          </p:cNvPr>
          <p:cNvSpPr txBox="1">
            <a:spLocks/>
          </p:cNvSpPr>
          <p:nvPr/>
        </p:nvSpPr>
        <p:spPr>
          <a:xfrm>
            <a:off x="9144" y="6512928"/>
            <a:ext cx="1591559"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Samuele Tomassacci</a:t>
            </a:r>
          </a:p>
        </p:txBody>
      </p:sp>
      <p:sp>
        <p:nvSpPr>
          <p:cNvPr id="5" name="Segnaposto numero diapositiva 1">
            <a:extLst>
              <a:ext uri="{FF2B5EF4-FFF2-40B4-BE49-F238E27FC236}">
                <a16:creationId xmlns:a16="http://schemas.microsoft.com/office/drawing/2014/main" id="{4BBE468E-E19E-F904-B640-0E77CF9CA1F3}"/>
              </a:ext>
            </a:extLst>
          </p:cNvPr>
          <p:cNvSpPr txBox="1">
            <a:spLocks/>
          </p:cNvSpPr>
          <p:nvPr/>
        </p:nvSpPr>
        <p:spPr>
          <a:xfrm>
            <a:off x="5443586" y="6512928"/>
            <a:ext cx="1304828"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Neural Networks</a:t>
            </a:r>
          </a:p>
        </p:txBody>
      </p:sp>
      <p:pic>
        <p:nvPicPr>
          <p:cNvPr id="9" name="Picture 10">
            <a:extLst>
              <a:ext uri="{FF2B5EF4-FFF2-40B4-BE49-F238E27FC236}">
                <a16:creationId xmlns:a16="http://schemas.microsoft.com/office/drawing/2014/main" id="{A11C6332-4D24-3A05-AE69-F2965BC20B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0034" y="98818"/>
            <a:ext cx="1490673" cy="448444"/>
          </a:xfrm>
          <a:prstGeom prst="rect">
            <a:avLst/>
          </a:prstGeom>
          <a:noFill/>
          <a:extLst>
            <a:ext uri="{909E8E84-426E-40DD-AFC4-6F175D3DCCD1}">
              <a14:hiddenFill xmlns:a14="http://schemas.microsoft.com/office/drawing/2010/main">
                <a:solidFill>
                  <a:srgbClr val="FFFFFF"/>
                </a:solidFill>
              </a14:hiddenFill>
            </a:ext>
          </a:extLst>
        </p:spPr>
      </p:pic>
      <p:sp>
        <p:nvSpPr>
          <p:cNvPr id="10" name="Titolo 1">
            <a:extLst>
              <a:ext uri="{FF2B5EF4-FFF2-40B4-BE49-F238E27FC236}">
                <a16:creationId xmlns:a16="http://schemas.microsoft.com/office/drawing/2014/main" id="{ED8898B7-35C6-CA6C-0B40-7EEC956EA6FF}"/>
              </a:ext>
            </a:extLst>
          </p:cNvPr>
          <p:cNvSpPr>
            <a:spLocks noGrp="1"/>
          </p:cNvSpPr>
          <p:nvPr>
            <p:ph type="ctrTitle"/>
          </p:nvPr>
        </p:nvSpPr>
        <p:spPr>
          <a:xfrm>
            <a:off x="3141432" y="-18569"/>
            <a:ext cx="5604334" cy="683218"/>
          </a:xfrm>
        </p:spPr>
        <p:txBody>
          <a:bodyPr rtlCol="0" anchor="t">
            <a:noAutofit/>
          </a:bodyPr>
          <a:lstStyle/>
          <a:p>
            <a:r>
              <a:rPr lang="en-US" sz="4400" b="1" dirty="0">
                <a:latin typeface="Bookman Old Style" panose="02050604050505020204" pitchFamily="18" charset="0"/>
              </a:rPr>
              <a:t>Dataset</a:t>
            </a:r>
            <a:br>
              <a:rPr lang="en-US" sz="4400" b="1" dirty="0">
                <a:solidFill>
                  <a:schemeClr val="tx1"/>
                </a:solidFill>
                <a:latin typeface="Bookman Old Style" panose="02050604050505020204" pitchFamily="18" charset="0"/>
              </a:rPr>
            </a:br>
            <a:br>
              <a:rPr lang="en-US" sz="4400" b="1" dirty="0">
                <a:solidFill>
                  <a:schemeClr val="tx1"/>
                </a:solidFill>
                <a:latin typeface="Bookman Old Style" panose="02050604050505020204" pitchFamily="18" charset="0"/>
              </a:rPr>
            </a:br>
            <a:endParaRPr lang="it" sz="4400" b="1" dirty="0">
              <a:solidFill>
                <a:schemeClr val="tx1"/>
              </a:solidFill>
              <a:latin typeface="Bookman Old Style" panose="02050604050505020204" pitchFamily="18" charset="0"/>
            </a:endParaRPr>
          </a:p>
        </p:txBody>
      </p:sp>
      <p:cxnSp>
        <p:nvCxnSpPr>
          <p:cNvPr id="12" name="Connettore diritto 11">
            <a:extLst>
              <a:ext uri="{FF2B5EF4-FFF2-40B4-BE49-F238E27FC236}">
                <a16:creationId xmlns:a16="http://schemas.microsoft.com/office/drawing/2014/main" id="{C44396FD-C196-5E75-11A7-BEE7B951EA7D}"/>
              </a:ext>
            </a:extLst>
          </p:cNvPr>
          <p:cNvCxnSpPr/>
          <p:nvPr/>
        </p:nvCxnSpPr>
        <p:spPr>
          <a:xfrm>
            <a:off x="4739148" y="664649"/>
            <a:ext cx="2408903"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22" name="AutoShape 2" descr="5 Best Free Google Slides Space Theme - MasterBundles">
            <a:extLst>
              <a:ext uri="{FF2B5EF4-FFF2-40B4-BE49-F238E27FC236}">
                <a16:creationId xmlns:a16="http://schemas.microsoft.com/office/drawing/2014/main" id="{195E0845-FC05-3F9A-5C65-71C86E061F7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cxnSp>
        <p:nvCxnSpPr>
          <p:cNvPr id="3" name="Connettore diritto 2">
            <a:extLst>
              <a:ext uri="{FF2B5EF4-FFF2-40B4-BE49-F238E27FC236}">
                <a16:creationId xmlns:a16="http://schemas.microsoft.com/office/drawing/2014/main" id="{E410CE58-37E5-9AC0-7538-25C85B876302}"/>
              </a:ext>
            </a:extLst>
          </p:cNvPr>
          <p:cNvCxnSpPr>
            <a:cxnSpLocks/>
          </p:cNvCxnSpPr>
          <p:nvPr/>
        </p:nvCxnSpPr>
        <p:spPr>
          <a:xfrm>
            <a:off x="0" y="6512928"/>
            <a:ext cx="12192000"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6" name="CasellaDiTesto 5">
            <a:extLst>
              <a:ext uri="{FF2B5EF4-FFF2-40B4-BE49-F238E27FC236}">
                <a16:creationId xmlns:a16="http://schemas.microsoft.com/office/drawing/2014/main" id="{8C4DC367-18B6-85D8-C4BE-45DDB7CDED3A}"/>
              </a:ext>
            </a:extLst>
          </p:cNvPr>
          <p:cNvSpPr txBox="1"/>
          <p:nvPr/>
        </p:nvSpPr>
        <p:spPr>
          <a:xfrm>
            <a:off x="3578202" y="947757"/>
            <a:ext cx="4730792" cy="400110"/>
          </a:xfrm>
          <a:prstGeom prst="rect">
            <a:avLst/>
          </a:prstGeom>
          <a:noFill/>
        </p:spPr>
        <p:txBody>
          <a:bodyPr wrap="square" rtlCol="0">
            <a:spAutoFit/>
          </a:bodyPr>
          <a:lstStyle/>
          <a:p>
            <a:pPr algn="ctr"/>
            <a:r>
              <a:rPr lang="en-GB" sz="2000" dirty="0">
                <a:solidFill>
                  <a:prstClr val="black"/>
                </a:solidFill>
                <a:latin typeface="Univers Condensed Light"/>
              </a:rPr>
              <a:t>The dataset used is </a:t>
            </a:r>
            <a:r>
              <a:rPr lang="en-GB" sz="2000" b="1" dirty="0">
                <a:solidFill>
                  <a:prstClr val="black"/>
                </a:solidFill>
                <a:latin typeface="Univers Condensed Light"/>
              </a:rPr>
              <a:t>Pavia University Dataset</a:t>
            </a:r>
          </a:p>
        </p:txBody>
      </p:sp>
      <p:sp>
        <p:nvSpPr>
          <p:cNvPr id="7" name="CasellaDiTesto 6">
            <a:extLst>
              <a:ext uri="{FF2B5EF4-FFF2-40B4-BE49-F238E27FC236}">
                <a16:creationId xmlns:a16="http://schemas.microsoft.com/office/drawing/2014/main" id="{47B0F437-A674-ED89-64D7-069F0D58185D}"/>
              </a:ext>
            </a:extLst>
          </p:cNvPr>
          <p:cNvSpPr txBox="1"/>
          <p:nvPr/>
        </p:nvSpPr>
        <p:spPr>
          <a:xfrm>
            <a:off x="2107199" y="1879483"/>
            <a:ext cx="7806151" cy="707886"/>
          </a:xfrm>
          <a:prstGeom prst="rect">
            <a:avLst/>
          </a:prstGeom>
          <a:noFill/>
        </p:spPr>
        <p:txBody>
          <a:bodyPr wrap="square" rtlCol="0">
            <a:spAutoFit/>
          </a:bodyPr>
          <a:lstStyle/>
          <a:p>
            <a:pPr algn="ctr"/>
            <a:r>
              <a:rPr lang="en-GB" sz="2000" dirty="0">
                <a:solidFill>
                  <a:prstClr val="black"/>
                </a:solidFill>
                <a:latin typeface="Univers Condensed Light"/>
              </a:rPr>
              <a:t>A single hyperspectral image of size 610x340 with 103 spectral bands, acquired during a flight campaign over Pavia University using the ROSIS sensor</a:t>
            </a:r>
          </a:p>
        </p:txBody>
      </p:sp>
      <p:cxnSp>
        <p:nvCxnSpPr>
          <p:cNvPr id="13" name="Connettore 2 12">
            <a:extLst>
              <a:ext uri="{FF2B5EF4-FFF2-40B4-BE49-F238E27FC236}">
                <a16:creationId xmlns:a16="http://schemas.microsoft.com/office/drawing/2014/main" id="{A90DBBE7-617C-46EE-F736-1AD99B173955}"/>
              </a:ext>
            </a:extLst>
          </p:cNvPr>
          <p:cNvCxnSpPr>
            <a:cxnSpLocks/>
          </p:cNvCxnSpPr>
          <p:nvPr/>
        </p:nvCxnSpPr>
        <p:spPr>
          <a:xfrm>
            <a:off x="6010275" y="1347867"/>
            <a:ext cx="0" cy="485449"/>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pic>
        <p:nvPicPr>
          <p:cNvPr id="17" name="Immagine 16" descr="Immagine che contiene testo, schermata, numero, Carattere&#10;&#10;Il contenuto generato dall'IA potrebbe non essere corretto.">
            <a:extLst>
              <a:ext uri="{FF2B5EF4-FFF2-40B4-BE49-F238E27FC236}">
                <a16:creationId xmlns:a16="http://schemas.microsoft.com/office/drawing/2014/main" id="{E190E456-1B31-0E4B-7B78-5B156FA3844C}"/>
              </a:ext>
            </a:extLst>
          </p:cNvPr>
          <p:cNvPicPr>
            <a:picLocks noChangeAspect="1"/>
          </p:cNvPicPr>
          <p:nvPr/>
        </p:nvPicPr>
        <p:blipFill>
          <a:blip r:embed="rId4"/>
          <a:stretch>
            <a:fillRect/>
          </a:stretch>
        </p:blipFill>
        <p:spPr>
          <a:xfrm>
            <a:off x="162565" y="3545455"/>
            <a:ext cx="5739693" cy="2865438"/>
          </a:xfrm>
          <a:prstGeom prst="rect">
            <a:avLst/>
          </a:prstGeom>
        </p:spPr>
      </p:pic>
      <p:sp>
        <p:nvSpPr>
          <p:cNvPr id="18" name="CasellaDiTesto 17">
            <a:extLst>
              <a:ext uri="{FF2B5EF4-FFF2-40B4-BE49-F238E27FC236}">
                <a16:creationId xmlns:a16="http://schemas.microsoft.com/office/drawing/2014/main" id="{BE12F80F-2E98-72A3-1582-7FF7035B3776}"/>
              </a:ext>
            </a:extLst>
          </p:cNvPr>
          <p:cNvSpPr txBox="1"/>
          <p:nvPr/>
        </p:nvSpPr>
        <p:spPr>
          <a:xfrm>
            <a:off x="6217466" y="3232816"/>
            <a:ext cx="5810250" cy="1323439"/>
          </a:xfrm>
          <a:prstGeom prst="rect">
            <a:avLst/>
          </a:prstGeom>
          <a:noFill/>
        </p:spPr>
        <p:txBody>
          <a:bodyPr wrap="square" rtlCol="0">
            <a:spAutoFit/>
          </a:bodyPr>
          <a:lstStyle/>
          <a:p>
            <a:pPr algn="ctr"/>
            <a:endParaRPr lang="en-GB" sz="2000" dirty="0">
              <a:solidFill>
                <a:prstClr val="black"/>
              </a:solidFill>
              <a:latin typeface="Univers Condensed Light"/>
            </a:endParaRPr>
          </a:p>
          <a:p>
            <a:pPr algn="ctr"/>
            <a:r>
              <a:rPr lang="en-GB" sz="2000" dirty="0">
                <a:solidFill>
                  <a:prstClr val="black"/>
                </a:solidFill>
                <a:latin typeface="Univers Condensed Light"/>
              </a:rPr>
              <a:t>The input of the model is 15x15 patch, centred on the pixel to be classified.</a:t>
            </a:r>
          </a:p>
          <a:p>
            <a:pPr algn="ctr"/>
            <a:endParaRPr lang="en-GB" sz="2000" dirty="0">
              <a:solidFill>
                <a:prstClr val="black"/>
              </a:solidFill>
              <a:latin typeface="Univers Condensed Light"/>
            </a:endParaRPr>
          </a:p>
        </p:txBody>
      </p:sp>
      <p:sp>
        <p:nvSpPr>
          <p:cNvPr id="20" name="CasellaDiTesto 19">
            <a:extLst>
              <a:ext uri="{FF2B5EF4-FFF2-40B4-BE49-F238E27FC236}">
                <a16:creationId xmlns:a16="http://schemas.microsoft.com/office/drawing/2014/main" id="{45BD0883-78D3-28B1-D00E-AF3B76699CF0}"/>
              </a:ext>
            </a:extLst>
          </p:cNvPr>
          <p:cNvSpPr txBox="1"/>
          <p:nvPr/>
        </p:nvSpPr>
        <p:spPr>
          <a:xfrm>
            <a:off x="111943" y="3048150"/>
            <a:ext cx="6105524" cy="369332"/>
          </a:xfrm>
          <a:prstGeom prst="rect">
            <a:avLst/>
          </a:prstGeom>
          <a:noFill/>
        </p:spPr>
        <p:txBody>
          <a:bodyPr wrap="square">
            <a:spAutoFit/>
          </a:bodyPr>
          <a:lstStyle/>
          <a:p>
            <a:pPr algn="ctr"/>
            <a:r>
              <a:rPr lang="en-GB" sz="1800" dirty="0">
                <a:solidFill>
                  <a:prstClr val="black"/>
                </a:solidFill>
                <a:latin typeface="Univers Condensed Light"/>
              </a:rPr>
              <a:t>42,776 pixels are labelled into 9 different classes</a:t>
            </a:r>
          </a:p>
        </p:txBody>
      </p:sp>
      <p:sp>
        <p:nvSpPr>
          <p:cNvPr id="21" name="Rettangolo con angoli arrotondati 20">
            <a:extLst>
              <a:ext uri="{FF2B5EF4-FFF2-40B4-BE49-F238E27FC236}">
                <a16:creationId xmlns:a16="http://schemas.microsoft.com/office/drawing/2014/main" id="{F933D7CD-7090-C3E4-4B24-3594818EC0E1}"/>
              </a:ext>
            </a:extLst>
          </p:cNvPr>
          <p:cNvSpPr/>
          <p:nvPr/>
        </p:nvSpPr>
        <p:spPr>
          <a:xfrm>
            <a:off x="885824" y="3076256"/>
            <a:ext cx="4557761" cy="359357"/>
          </a:xfrm>
          <a:prstGeom prst="roundRect">
            <a:avLst/>
          </a:prstGeom>
          <a:noFill/>
          <a:ln>
            <a:solidFill>
              <a:srgbClr val="822433"/>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CasellaDiTesto 22">
            <a:extLst>
              <a:ext uri="{FF2B5EF4-FFF2-40B4-BE49-F238E27FC236}">
                <a16:creationId xmlns:a16="http://schemas.microsoft.com/office/drawing/2014/main" id="{30EFCFAB-A64E-16AD-6F5F-29654D2DA6D8}"/>
              </a:ext>
            </a:extLst>
          </p:cNvPr>
          <p:cNvSpPr txBox="1"/>
          <p:nvPr/>
        </p:nvSpPr>
        <p:spPr>
          <a:xfrm>
            <a:off x="6165717" y="4734267"/>
            <a:ext cx="5810250" cy="1015663"/>
          </a:xfrm>
          <a:prstGeom prst="rect">
            <a:avLst/>
          </a:prstGeom>
          <a:noFill/>
        </p:spPr>
        <p:txBody>
          <a:bodyPr wrap="square" rtlCol="0">
            <a:spAutoFit/>
          </a:bodyPr>
          <a:lstStyle/>
          <a:p>
            <a:pPr algn="ctr"/>
            <a:endParaRPr lang="en-GB" sz="2000" dirty="0">
              <a:solidFill>
                <a:prstClr val="black"/>
              </a:solidFill>
              <a:latin typeface="Univers Condensed Light"/>
            </a:endParaRPr>
          </a:p>
          <a:p>
            <a:pPr algn="ctr"/>
            <a:r>
              <a:rPr lang="en-GB" sz="2000" dirty="0">
                <a:solidFill>
                  <a:prstClr val="black"/>
                </a:solidFill>
                <a:latin typeface="Univers Condensed Light"/>
              </a:rPr>
              <a:t>Limited training samples, indeed the training dataset is composed of only 10 samples per class</a:t>
            </a:r>
          </a:p>
        </p:txBody>
      </p:sp>
      <p:sp>
        <p:nvSpPr>
          <p:cNvPr id="24" name="Freccia a destra 23">
            <a:extLst>
              <a:ext uri="{FF2B5EF4-FFF2-40B4-BE49-F238E27FC236}">
                <a16:creationId xmlns:a16="http://schemas.microsoft.com/office/drawing/2014/main" id="{B6EEA001-3CF5-550E-9304-A97385D9F407}"/>
              </a:ext>
            </a:extLst>
          </p:cNvPr>
          <p:cNvSpPr/>
          <p:nvPr/>
        </p:nvSpPr>
        <p:spPr>
          <a:xfrm rot="5400000">
            <a:off x="8841350" y="4530865"/>
            <a:ext cx="562483" cy="304770"/>
          </a:xfrm>
          <a:prstGeom prst="rightArrow">
            <a:avLst/>
          </a:prstGeom>
          <a:solidFill>
            <a:srgbClr val="822433"/>
          </a:solidFill>
          <a:ln>
            <a:noFill/>
          </a:ln>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08674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0C68D-E516-A9FD-1EFE-3D6B777E1593}"/>
            </a:ext>
          </a:extLst>
        </p:cNvPr>
        <p:cNvGrpSpPr/>
        <p:nvPr/>
      </p:nvGrpSpPr>
      <p:grpSpPr>
        <a:xfrm>
          <a:off x="0" y="0"/>
          <a:ext cx="0" cy="0"/>
          <a:chOff x="0" y="0"/>
          <a:chExt cx="0" cy="0"/>
        </a:xfrm>
      </p:grpSpPr>
      <p:pic>
        <p:nvPicPr>
          <p:cNvPr id="2053" name="Immagine 2052" descr="Immagine che contiene design, busta, statico&#10;&#10;Il contenuto generato dall'IA potrebbe non essere corretto.">
            <a:extLst>
              <a:ext uri="{FF2B5EF4-FFF2-40B4-BE49-F238E27FC236}">
                <a16:creationId xmlns:a16="http://schemas.microsoft.com/office/drawing/2014/main" id="{5CE9DB25-6B8E-A335-F8EF-2A4DC0C8C7A4}"/>
              </a:ext>
            </a:extLst>
          </p:cNvPr>
          <p:cNvPicPr>
            <a:picLocks noChangeAspect="1"/>
          </p:cNvPicPr>
          <p:nvPr/>
        </p:nvPicPr>
        <p:blipFill>
          <a:blip r:embed="rId2"/>
          <a:srcRect l="11707" t="9332" r="105"/>
          <a:stretch>
            <a:fillRect/>
          </a:stretch>
        </p:blipFill>
        <p:spPr>
          <a:xfrm>
            <a:off x="0" y="1"/>
            <a:ext cx="1094960" cy="2066544"/>
          </a:xfrm>
          <a:prstGeom prst="rect">
            <a:avLst/>
          </a:prstGeom>
        </p:spPr>
      </p:pic>
      <p:sp>
        <p:nvSpPr>
          <p:cNvPr id="2" name="Segnaposto numero diapositiva 1">
            <a:extLst>
              <a:ext uri="{FF2B5EF4-FFF2-40B4-BE49-F238E27FC236}">
                <a16:creationId xmlns:a16="http://schemas.microsoft.com/office/drawing/2014/main" id="{3F6F3F7F-61AB-09EE-53CD-416D551A7901}"/>
              </a:ext>
            </a:extLst>
          </p:cNvPr>
          <p:cNvSpPr>
            <a:spLocks noGrp="1"/>
          </p:cNvSpPr>
          <p:nvPr>
            <p:ph type="sldNum" sz="quarter" idx="12"/>
          </p:nvPr>
        </p:nvSpPr>
        <p:spPr>
          <a:xfrm>
            <a:off x="188534" y="6512928"/>
            <a:ext cx="11787433" cy="365125"/>
          </a:xfrm>
        </p:spPr>
        <p:txBody>
          <a:bodyPr/>
          <a:lstStyle/>
          <a:p>
            <a:fld id="{6BDFA317-9872-4CA4-AEEB-C3769785CDD8}" type="slidenum">
              <a:rPr lang="en-GB" smtClean="0"/>
              <a:t>4</a:t>
            </a:fld>
            <a:endParaRPr lang="en-GB" dirty="0"/>
          </a:p>
        </p:txBody>
      </p:sp>
      <p:sp>
        <p:nvSpPr>
          <p:cNvPr id="4" name="Segnaposto numero diapositiva 1">
            <a:extLst>
              <a:ext uri="{FF2B5EF4-FFF2-40B4-BE49-F238E27FC236}">
                <a16:creationId xmlns:a16="http://schemas.microsoft.com/office/drawing/2014/main" id="{1D2B5E6F-0BE3-0E7A-7E04-A7261EBFFA32}"/>
              </a:ext>
            </a:extLst>
          </p:cNvPr>
          <p:cNvSpPr txBox="1">
            <a:spLocks/>
          </p:cNvSpPr>
          <p:nvPr/>
        </p:nvSpPr>
        <p:spPr>
          <a:xfrm>
            <a:off x="9144" y="6512928"/>
            <a:ext cx="1591559"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Samuele Tomassacci</a:t>
            </a:r>
          </a:p>
        </p:txBody>
      </p:sp>
      <p:sp>
        <p:nvSpPr>
          <p:cNvPr id="5" name="Segnaposto numero diapositiva 1">
            <a:extLst>
              <a:ext uri="{FF2B5EF4-FFF2-40B4-BE49-F238E27FC236}">
                <a16:creationId xmlns:a16="http://schemas.microsoft.com/office/drawing/2014/main" id="{9AB14A3D-C6A6-74FA-FE38-CB209E80E8DA}"/>
              </a:ext>
            </a:extLst>
          </p:cNvPr>
          <p:cNvSpPr txBox="1">
            <a:spLocks/>
          </p:cNvSpPr>
          <p:nvPr/>
        </p:nvSpPr>
        <p:spPr>
          <a:xfrm>
            <a:off x="5443586" y="6512928"/>
            <a:ext cx="1304828"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Neural Networks</a:t>
            </a:r>
          </a:p>
        </p:txBody>
      </p:sp>
      <p:pic>
        <p:nvPicPr>
          <p:cNvPr id="9" name="Picture 10">
            <a:extLst>
              <a:ext uri="{FF2B5EF4-FFF2-40B4-BE49-F238E27FC236}">
                <a16:creationId xmlns:a16="http://schemas.microsoft.com/office/drawing/2014/main" id="{BFAF9115-79C7-AF26-5060-DAF9100191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0034" y="98818"/>
            <a:ext cx="1490673" cy="448444"/>
          </a:xfrm>
          <a:prstGeom prst="rect">
            <a:avLst/>
          </a:prstGeom>
          <a:noFill/>
          <a:extLst>
            <a:ext uri="{909E8E84-426E-40DD-AFC4-6F175D3DCCD1}">
              <a14:hiddenFill xmlns:a14="http://schemas.microsoft.com/office/drawing/2010/main">
                <a:solidFill>
                  <a:srgbClr val="FFFFFF"/>
                </a:solidFill>
              </a14:hiddenFill>
            </a:ext>
          </a:extLst>
        </p:spPr>
      </p:pic>
      <p:sp>
        <p:nvSpPr>
          <p:cNvPr id="10" name="Titolo 1">
            <a:extLst>
              <a:ext uri="{FF2B5EF4-FFF2-40B4-BE49-F238E27FC236}">
                <a16:creationId xmlns:a16="http://schemas.microsoft.com/office/drawing/2014/main" id="{A0BEDFB5-8A26-AAEB-15BE-BBC66B3AC092}"/>
              </a:ext>
            </a:extLst>
          </p:cNvPr>
          <p:cNvSpPr>
            <a:spLocks noGrp="1"/>
          </p:cNvSpPr>
          <p:nvPr>
            <p:ph type="ctrTitle"/>
          </p:nvPr>
        </p:nvSpPr>
        <p:spPr>
          <a:xfrm>
            <a:off x="3141432" y="-18569"/>
            <a:ext cx="5604334" cy="683218"/>
          </a:xfrm>
        </p:spPr>
        <p:txBody>
          <a:bodyPr rtlCol="0" anchor="t">
            <a:noAutofit/>
          </a:bodyPr>
          <a:lstStyle/>
          <a:p>
            <a:r>
              <a:rPr lang="en-US" sz="4400" b="1" dirty="0">
                <a:latin typeface="Bookman Old Style" panose="02050604050505020204" pitchFamily="18" charset="0"/>
              </a:rPr>
              <a:t>Model Overview</a:t>
            </a:r>
            <a:br>
              <a:rPr lang="en-US" sz="4400" b="1" dirty="0">
                <a:solidFill>
                  <a:schemeClr val="tx1"/>
                </a:solidFill>
                <a:latin typeface="Bookman Old Style" panose="02050604050505020204" pitchFamily="18" charset="0"/>
              </a:rPr>
            </a:br>
            <a:br>
              <a:rPr lang="en-US" sz="4400" b="1" dirty="0">
                <a:solidFill>
                  <a:schemeClr val="tx1"/>
                </a:solidFill>
                <a:latin typeface="Bookman Old Style" panose="02050604050505020204" pitchFamily="18" charset="0"/>
              </a:rPr>
            </a:br>
            <a:endParaRPr lang="it" sz="4400" b="1" dirty="0">
              <a:solidFill>
                <a:schemeClr val="tx1"/>
              </a:solidFill>
              <a:latin typeface="Bookman Old Style" panose="02050604050505020204" pitchFamily="18" charset="0"/>
            </a:endParaRPr>
          </a:p>
        </p:txBody>
      </p:sp>
      <p:cxnSp>
        <p:nvCxnSpPr>
          <p:cNvPr id="12" name="Connettore diritto 11">
            <a:extLst>
              <a:ext uri="{FF2B5EF4-FFF2-40B4-BE49-F238E27FC236}">
                <a16:creationId xmlns:a16="http://schemas.microsoft.com/office/drawing/2014/main" id="{D367108E-B2B0-139A-117B-5D8D2CE31E70}"/>
              </a:ext>
            </a:extLst>
          </p:cNvPr>
          <p:cNvCxnSpPr>
            <a:cxnSpLocks/>
          </p:cNvCxnSpPr>
          <p:nvPr/>
        </p:nvCxnSpPr>
        <p:spPr>
          <a:xfrm>
            <a:off x="3776472" y="664649"/>
            <a:ext cx="4306824"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22" name="AutoShape 2" descr="5 Best Free Google Slides Space Theme - MasterBundles">
            <a:extLst>
              <a:ext uri="{FF2B5EF4-FFF2-40B4-BE49-F238E27FC236}">
                <a16:creationId xmlns:a16="http://schemas.microsoft.com/office/drawing/2014/main" id="{9F3BD100-B8F5-B9A9-59D7-0DFFC172BC8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cxnSp>
        <p:nvCxnSpPr>
          <p:cNvPr id="3" name="Connettore diritto 2">
            <a:extLst>
              <a:ext uri="{FF2B5EF4-FFF2-40B4-BE49-F238E27FC236}">
                <a16:creationId xmlns:a16="http://schemas.microsoft.com/office/drawing/2014/main" id="{84B71842-F3C9-5057-C96D-F3C62C43C853}"/>
              </a:ext>
            </a:extLst>
          </p:cNvPr>
          <p:cNvCxnSpPr>
            <a:cxnSpLocks/>
          </p:cNvCxnSpPr>
          <p:nvPr/>
        </p:nvCxnSpPr>
        <p:spPr>
          <a:xfrm>
            <a:off x="0" y="6512928"/>
            <a:ext cx="12192000"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7" name="CasellaDiTesto 6">
            <a:extLst>
              <a:ext uri="{FF2B5EF4-FFF2-40B4-BE49-F238E27FC236}">
                <a16:creationId xmlns:a16="http://schemas.microsoft.com/office/drawing/2014/main" id="{A22944EE-05FC-CF53-08EF-CF984770095A}"/>
              </a:ext>
            </a:extLst>
          </p:cNvPr>
          <p:cNvSpPr txBox="1"/>
          <p:nvPr/>
        </p:nvSpPr>
        <p:spPr>
          <a:xfrm>
            <a:off x="2034828" y="1175605"/>
            <a:ext cx="7817541" cy="1569660"/>
          </a:xfrm>
          <a:prstGeom prst="rect">
            <a:avLst/>
          </a:prstGeom>
          <a:noFill/>
        </p:spPr>
        <p:txBody>
          <a:bodyPr wrap="square" rtlCol="0">
            <a:spAutoFit/>
          </a:bodyPr>
          <a:lstStyle/>
          <a:p>
            <a:r>
              <a:rPr lang="en-GB" sz="2400" dirty="0">
                <a:solidFill>
                  <a:prstClr val="black"/>
                </a:solidFill>
                <a:latin typeface="Univers Condensed Light"/>
              </a:rPr>
              <a:t>Three key novelties:</a:t>
            </a:r>
          </a:p>
          <a:p>
            <a:pPr marL="342900" indent="-342900">
              <a:buFont typeface="Arial" panose="020B0604020202020204" pitchFamily="34" charset="0"/>
              <a:buChar char="•"/>
            </a:pPr>
            <a:r>
              <a:rPr lang="en-GB" sz="2400" b="1" dirty="0">
                <a:solidFill>
                  <a:prstClr val="black"/>
                </a:solidFill>
                <a:latin typeface="Univers Condensed Light"/>
              </a:rPr>
              <a:t>Sample Amplification </a:t>
            </a:r>
            <a:r>
              <a:rPr lang="en-GB" sz="2400" dirty="0">
                <a:solidFill>
                  <a:prstClr val="black"/>
                </a:solidFill>
                <a:latin typeface="Univers Condensed Light"/>
              </a:rPr>
              <a:t>algorithm</a:t>
            </a:r>
          </a:p>
          <a:p>
            <a:pPr marL="342900" indent="-342900">
              <a:buFont typeface="Arial" panose="020B0604020202020204" pitchFamily="34" charset="0"/>
              <a:buChar char="•"/>
            </a:pPr>
            <a:r>
              <a:rPr lang="en-GB" sz="2400" b="1" dirty="0">
                <a:solidFill>
                  <a:prstClr val="black"/>
                </a:solidFill>
                <a:latin typeface="Univers Condensed Light"/>
              </a:rPr>
              <a:t>Hybrid module </a:t>
            </a:r>
            <a:r>
              <a:rPr lang="en-GB" sz="2400" dirty="0">
                <a:solidFill>
                  <a:prstClr val="black"/>
                </a:solidFill>
                <a:latin typeface="Univers Condensed Light"/>
              </a:rPr>
              <a:t>based on CNNs and Transformers called CT Block</a:t>
            </a:r>
          </a:p>
          <a:p>
            <a:pPr marL="342900" indent="-342900">
              <a:buFont typeface="Arial" panose="020B0604020202020204" pitchFamily="34" charset="0"/>
              <a:buChar char="•"/>
            </a:pPr>
            <a:r>
              <a:rPr lang="en-GB" sz="2400" b="1" dirty="0">
                <a:solidFill>
                  <a:prstClr val="black"/>
                </a:solidFill>
                <a:latin typeface="Univers Condensed Light"/>
              </a:rPr>
              <a:t>Channel-Spatial attention</a:t>
            </a:r>
          </a:p>
        </p:txBody>
      </p:sp>
      <p:pic>
        <p:nvPicPr>
          <p:cNvPr id="11" name="Immagine 10" descr="Immagine che contiene schermata, testo, Software per la grafica&#10;&#10;Il contenuto generato dall'IA potrebbe non essere corretto.">
            <a:extLst>
              <a:ext uri="{FF2B5EF4-FFF2-40B4-BE49-F238E27FC236}">
                <a16:creationId xmlns:a16="http://schemas.microsoft.com/office/drawing/2014/main" id="{A9881F48-D117-4D01-A370-D16D93AA8B0F}"/>
              </a:ext>
            </a:extLst>
          </p:cNvPr>
          <p:cNvPicPr>
            <a:picLocks noChangeAspect="1"/>
          </p:cNvPicPr>
          <p:nvPr/>
        </p:nvPicPr>
        <p:blipFill>
          <a:blip r:embed="rId4"/>
          <a:stretch>
            <a:fillRect/>
          </a:stretch>
        </p:blipFill>
        <p:spPr>
          <a:xfrm>
            <a:off x="1004197" y="2832208"/>
            <a:ext cx="9878804" cy="2915057"/>
          </a:xfrm>
          <a:prstGeom prst="rect">
            <a:avLst/>
          </a:prstGeom>
        </p:spPr>
      </p:pic>
    </p:spTree>
    <p:extLst>
      <p:ext uri="{BB962C8B-B14F-4D97-AF65-F5344CB8AC3E}">
        <p14:creationId xmlns:p14="http://schemas.microsoft.com/office/powerpoint/2010/main" val="2781369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25287-2D9E-D61F-49D3-BBC882315F8D}"/>
            </a:ext>
          </a:extLst>
        </p:cNvPr>
        <p:cNvGrpSpPr/>
        <p:nvPr/>
      </p:nvGrpSpPr>
      <p:grpSpPr>
        <a:xfrm>
          <a:off x="0" y="0"/>
          <a:ext cx="0" cy="0"/>
          <a:chOff x="0" y="0"/>
          <a:chExt cx="0" cy="0"/>
        </a:xfrm>
      </p:grpSpPr>
      <p:pic>
        <p:nvPicPr>
          <p:cNvPr id="2053" name="Immagine 2052" descr="Immagine che contiene design, busta, statico&#10;&#10;Il contenuto generato dall'IA potrebbe non essere corretto.">
            <a:extLst>
              <a:ext uri="{FF2B5EF4-FFF2-40B4-BE49-F238E27FC236}">
                <a16:creationId xmlns:a16="http://schemas.microsoft.com/office/drawing/2014/main" id="{0DFF6E79-D32D-8A0F-5BF7-DCCAD72E2720}"/>
              </a:ext>
            </a:extLst>
          </p:cNvPr>
          <p:cNvPicPr>
            <a:picLocks noChangeAspect="1"/>
          </p:cNvPicPr>
          <p:nvPr/>
        </p:nvPicPr>
        <p:blipFill>
          <a:blip r:embed="rId2"/>
          <a:srcRect l="11707" t="9332" r="105"/>
          <a:stretch>
            <a:fillRect/>
          </a:stretch>
        </p:blipFill>
        <p:spPr>
          <a:xfrm>
            <a:off x="0" y="1"/>
            <a:ext cx="1094960" cy="2066544"/>
          </a:xfrm>
          <a:prstGeom prst="rect">
            <a:avLst/>
          </a:prstGeom>
        </p:spPr>
      </p:pic>
      <p:sp>
        <p:nvSpPr>
          <p:cNvPr id="2" name="Segnaposto numero diapositiva 1">
            <a:extLst>
              <a:ext uri="{FF2B5EF4-FFF2-40B4-BE49-F238E27FC236}">
                <a16:creationId xmlns:a16="http://schemas.microsoft.com/office/drawing/2014/main" id="{31008818-6F4F-FBE5-6D12-E2D6FCE303E0}"/>
              </a:ext>
            </a:extLst>
          </p:cNvPr>
          <p:cNvSpPr>
            <a:spLocks noGrp="1"/>
          </p:cNvSpPr>
          <p:nvPr>
            <p:ph type="sldNum" sz="quarter" idx="12"/>
          </p:nvPr>
        </p:nvSpPr>
        <p:spPr>
          <a:xfrm>
            <a:off x="188534" y="6512928"/>
            <a:ext cx="11787433" cy="365125"/>
          </a:xfrm>
        </p:spPr>
        <p:txBody>
          <a:bodyPr/>
          <a:lstStyle/>
          <a:p>
            <a:fld id="{6BDFA317-9872-4CA4-AEEB-C3769785CDD8}" type="slidenum">
              <a:rPr lang="en-GB" smtClean="0"/>
              <a:t>5</a:t>
            </a:fld>
            <a:endParaRPr lang="en-GB" dirty="0"/>
          </a:p>
        </p:txBody>
      </p:sp>
      <p:sp>
        <p:nvSpPr>
          <p:cNvPr id="4" name="Segnaposto numero diapositiva 1">
            <a:extLst>
              <a:ext uri="{FF2B5EF4-FFF2-40B4-BE49-F238E27FC236}">
                <a16:creationId xmlns:a16="http://schemas.microsoft.com/office/drawing/2014/main" id="{510A58E4-8103-ED03-CC5A-6CE0E6F1D748}"/>
              </a:ext>
            </a:extLst>
          </p:cNvPr>
          <p:cNvSpPr txBox="1">
            <a:spLocks/>
          </p:cNvSpPr>
          <p:nvPr/>
        </p:nvSpPr>
        <p:spPr>
          <a:xfrm>
            <a:off x="9144" y="6512928"/>
            <a:ext cx="1591559"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Samuele Tomassacci</a:t>
            </a:r>
          </a:p>
        </p:txBody>
      </p:sp>
      <p:sp>
        <p:nvSpPr>
          <p:cNvPr id="5" name="Segnaposto numero diapositiva 1">
            <a:extLst>
              <a:ext uri="{FF2B5EF4-FFF2-40B4-BE49-F238E27FC236}">
                <a16:creationId xmlns:a16="http://schemas.microsoft.com/office/drawing/2014/main" id="{B41D2C68-8FB6-4EF5-4FE2-C70614538FE5}"/>
              </a:ext>
            </a:extLst>
          </p:cNvPr>
          <p:cNvSpPr txBox="1">
            <a:spLocks/>
          </p:cNvSpPr>
          <p:nvPr/>
        </p:nvSpPr>
        <p:spPr>
          <a:xfrm>
            <a:off x="5443586" y="6512928"/>
            <a:ext cx="1304828"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Neural Networks</a:t>
            </a:r>
          </a:p>
        </p:txBody>
      </p:sp>
      <p:pic>
        <p:nvPicPr>
          <p:cNvPr id="9" name="Picture 10">
            <a:extLst>
              <a:ext uri="{FF2B5EF4-FFF2-40B4-BE49-F238E27FC236}">
                <a16:creationId xmlns:a16="http://schemas.microsoft.com/office/drawing/2014/main" id="{B643C431-3EFB-0311-6AA1-8FC4167137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0034" y="98818"/>
            <a:ext cx="1490673" cy="448444"/>
          </a:xfrm>
          <a:prstGeom prst="rect">
            <a:avLst/>
          </a:prstGeom>
          <a:noFill/>
          <a:extLst>
            <a:ext uri="{909E8E84-426E-40DD-AFC4-6F175D3DCCD1}">
              <a14:hiddenFill xmlns:a14="http://schemas.microsoft.com/office/drawing/2010/main">
                <a:solidFill>
                  <a:srgbClr val="FFFFFF"/>
                </a:solidFill>
              </a14:hiddenFill>
            </a:ext>
          </a:extLst>
        </p:spPr>
      </p:pic>
      <p:sp>
        <p:nvSpPr>
          <p:cNvPr id="10" name="Titolo 1">
            <a:extLst>
              <a:ext uri="{FF2B5EF4-FFF2-40B4-BE49-F238E27FC236}">
                <a16:creationId xmlns:a16="http://schemas.microsoft.com/office/drawing/2014/main" id="{3DDCCD06-6FDB-A43B-2364-D9FC299881AE}"/>
              </a:ext>
            </a:extLst>
          </p:cNvPr>
          <p:cNvSpPr>
            <a:spLocks noGrp="1"/>
          </p:cNvSpPr>
          <p:nvPr>
            <p:ph type="ctrTitle"/>
          </p:nvPr>
        </p:nvSpPr>
        <p:spPr>
          <a:xfrm>
            <a:off x="2715240" y="-18569"/>
            <a:ext cx="6761520" cy="683218"/>
          </a:xfrm>
        </p:spPr>
        <p:txBody>
          <a:bodyPr rtlCol="0" anchor="t">
            <a:noAutofit/>
          </a:bodyPr>
          <a:lstStyle/>
          <a:p>
            <a:r>
              <a:rPr lang="en-US" sz="4400" b="1" dirty="0">
                <a:latin typeface="Bookman Old Style" panose="02050604050505020204" pitchFamily="18" charset="0"/>
              </a:rPr>
              <a:t>Sample amplification</a:t>
            </a:r>
            <a:br>
              <a:rPr lang="en-US" sz="4400" b="1" dirty="0">
                <a:solidFill>
                  <a:schemeClr val="tx1"/>
                </a:solidFill>
                <a:latin typeface="Bookman Old Style" panose="02050604050505020204" pitchFamily="18" charset="0"/>
              </a:rPr>
            </a:br>
            <a:br>
              <a:rPr lang="en-US" sz="4400" b="1" dirty="0">
                <a:solidFill>
                  <a:schemeClr val="tx1"/>
                </a:solidFill>
                <a:latin typeface="Bookman Old Style" panose="02050604050505020204" pitchFamily="18" charset="0"/>
              </a:rPr>
            </a:br>
            <a:endParaRPr lang="it" sz="4400" b="1" dirty="0">
              <a:solidFill>
                <a:schemeClr val="tx1"/>
              </a:solidFill>
              <a:latin typeface="Bookman Old Style" panose="02050604050505020204" pitchFamily="18" charset="0"/>
            </a:endParaRPr>
          </a:p>
        </p:txBody>
      </p:sp>
      <p:cxnSp>
        <p:nvCxnSpPr>
          <p:cNvPr id="12" name="Connettore diritto 11">
            <a:extLst>
              <a:ext uri="{FF2B5EF4-FFF2-40B4-BE49-F238E27FC236}">
                <a16:creationId xmlns:a16="http://schemas.microsoft.com/office/drawing/2014/main" id="{B919BE11-5B0F-95D4-D440-087061381FF8}"/>
              </a:ext>
            </a:extLst>
          </p:cNvPr>
          <p:cNvCxnSpPr>
            <a:cxnSpLocks/>
          </p:cNvCxnSpPr>
          <p:nvPr/>
        </p:nvCxnSpPr>
        <p:spPr>
          <a:xfrm>
            <a:off x="3108960" y="664649"/>
            <a:ext cx="6007608"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22" name="AutoShape 2" descr="5 Best Free Google Slides Space Theme - MasterBundles">
            <a:extLst>
              <a:ext uri="{FF2B5EF4-FFF2-40B4-BE49-F238E27FC236}">
                <a16:creationId xmlns:a16="http://schemas.microsoft.com/office/drawing/2014/main" id="{9782DEBD-E2D9-F286-A8B2-7CA0E23A392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cxnSp>
        <p:nvCxnSpPr>
          <p:cNvPr id="3" name="Connettore diritto 2">
            <a:extLst>
              <a:ext uri="{FF2B5EF4-FFF2-40B4-BE49-F238E27FC236}">
                <a16:creationId xmlns:a16="http://schemas.microsoft.com/office/drawing/2014/main" id="{E6100630-C0B5-2ED6-1A78-FE3EB6A108FF}"/>
              </a:ext>
            </a:extLst>
          </p:cNvPr>
          <p:cNvCxnSpPr>
            <a:cxnSpLocks/>
          </p:cNvCxnSpPr>
          <p:nvPr/>
        </p:nvCxnSpPr>
        <p:spPr>
          <a:xfrm>
            <a:off x="9144" y="6512928"/>
            <a:ext cx="12192000"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7" name="CasellaDiTesto 6">
            <a:extLst>
              <a:ext uri="{FF2B5EF4-FFF2-40B4-BE49-F238E27FC236}">
                <a16:creationId xmlns:a16="http://schemas.microsoft.com/office/drawing/2014/main" id="{5DADE931-9BFB-576C-9EE3-4A6AF5571FEB}"/>
              </a:ext>
            </a:extLst>
          </p:cNvPr>
          <p:cNvSpPr txBox="1"/>
          <p:nvPr/>
        </p:nvSpPr>
        <p:spPr>
          <a:xfrm>
            <a:off x="333151" y="2125597"/>
            <a:ext cx="5259928" cy="1015663"/>
          </a:xfrm>
          <a:prstGeom prst="rect">
            <a:avLst/>
          </a:prstGeom>
          <a:noFill/>
        </p:spPr>
        <p:txBody>
          <a:bodyPr wrap="square" rtlCol="0">
            <a:spAutoFit/>
          </a:bodyPr>
          <a:lstStyle/>
          <a:p>
            <a:pPr algn="ctr"/>
            <a:r>
              <a:rPr lang="en-GB" sz="2000" dirty="0">
                <a:solidFill>
                  <a:prstClr val="black"/>
                </a:solidFill>
                <a:latin typeface="Univers Condensed Light"/>
              </a:rPr>
              <a:t>Since training samples are extremely limited, </a:t>
            </a:r>
            <a:r>
              <a:rPr lang="en-GB" sz="2000" b="1" dirty="0">
                <a:solidFill>
                  <a:prstClr val="black"/>
                </a:solidFill>
                <a:latin typeface="Univers Condensed Light"/>
              </a:rPr>
              <a:t>data augmentation</a:t>
            </a:r>
            <a:r>
              <a:rPr lang="en-GB" sz="2000" dirty="0">
                <a:solidFill>
                  <a:prstClr val="black"/>
                </a:solidFill>
                <a:latin typeface="Univers Condensed Light"/>
              </a:rPr>
              <a:t> is necessary to achieve good results. These are the transformations used:</a:t>
            </a:r>
          </a:p>
        </p:txBody>
      </p:sp>
      <p:sp>
        <p:nvSpPr>
          <p:cNvPr id="8" name="CasellaDiTesto 7">
            <a:extLst>
              <a:ext uri="{FF2B5EF4-FFF2-40B4-BE49-F238E27FC236}">
                <a16:creationId xmlns:a16="http://schemas.microsoft.com/office/drawing/2014/main" id="{D23C6646-B546-0510-114E-69FC0D17C1C6}"/>
              </a:ext>
            </a:extLst>
          </p:cNvPr>
          <p:cNvSpPr txBox="1"/>
          <p:nvPr/>
        </p:nvSpPr>
        <p:spPr>
          <a:xfrm>
            <a:off x="6666647" y="2094951"/>
            <a:ext cx="5026567" cy="1323439"/>
          </a:xfrm>
          <a:prstGeom prst="rect">
            <a:avLst/>
          </a:prstGeom>
          <a:noFill/>
        </p:spPr>
        <p:txBody>
          <a:bodyPr wrap="square" rtlCol="0">
            <a:spAutoFit/>
          </a:bodyPr>
          <a:lstStyle/>
          <a:p>
            <a:pPr marL="342900" indent="-342900">
              <a:buFont typeface="Arial" panose="020B0604020202020204" pitchFamily="34" charset="0"/>
              <a:buChar char="•"/>
            </a:pPr>
            <a:r>
              <a:rPr lang="en-GB" sz="2000" dirty="0">
                <a:solidFill>
                  <a:prstClr val="black"/>
                </a:solidFill>
                <a:latin typeface="Univers Condensed Light"/>
              </a:rPr>
              <a:t>Addition of </a:t>
            </a:r>
            <a:r>
              <a:rPr lang="en-GB" sz="2000" b="1" dirty="0">
                <a:solidFill>
                  <a:prstClr val="black"/>
                </a:solidFill>
                <a:latin typeface="Univers Condensed Light"/>
              </a:rPr>
              <a:t>random gaussian noise</a:t>
            </a:r>
          </a:p>
          <a:p>
            <a:pPr marL="342900" indent="-342900">
              <a:buFont typeface="Arial" panose="020B0604020202020204" pitchFamily="34" charset="0"/>
              <a:buChar char="•"/>
            </a:pPr>
            <a:r>
              <a:rPr lang="en-GB" sz="2000" b="1" dirty="0">
                <a:solidFill>
                  <a:prstClr val="black"/>
                </a:solidFill>
                <a:latin typeface="Univers Condensed Light"/>
              </a:rPr>
              <a:t>Random rotation</a:t>
            </a:r>
          </a:p>
          <a:p>
            <a:pPr marL="342900" indent="-342900">
              <a:buFont typeface="Arial" panose="020B0604020202020204" pitchFamily="34" charset="0"/>
              <a:buChar char="•"/>
            </a:pPr>
            <a:r>
              <a:rPr lang="en-GB" sz="2000" b="1" dirty="0">
                <a:solidFill>
                  <a:prstClr val="black"/>
                </a:solidFill>
                <a:latin typeface="Univers Condensed Light"/>
              </a:rPr>
              <a:t>Linear summation</a:t>
            </a:r>
            <a:r>
              <a:rPr lang="en-GB" sz="2000" dirty="0">
                <a:solidFill>
                  <a:prstClr val="black"/>
                </a:solidFill>
                <a:latin typeface="Univers Condensed Light"/>
              </a:rPr>
              <a:t> of samples of the same class</a:t>
            </a:r>
            <a:br>
              <a:rPr lang="en-GB" sz="2000" dirty="0">
                <a:solidFill>
                  <a:prstClr val="black"/>
                </a:solidFill>
                <a:latin typeface="Univers Condensed Light"/>
              </a:rPr>
            </a:br>
            <a:endParaRPr lang="en-GB" sz="2000" dirty="0">
              <a:solidFill>
                <a:prstClr val="black"/>
              </a:solidFill>
              <a:latin typeface="Univers Condensed Light"/>
            </a:endParaRPr>
          </a:p>
        </p:txBody>
      </p:sp>
      <p:cxnSp>
        <p:nvCxnSpPr>
          <p:cNvPr id="14" name="Connettore 2 13">
            <a:extLst>
              <a:ext uri="{FF2B5EF4-FFF2-40B4-BE49-F238E27FC236}">
                <a16:creationId xmlns:a16="http://schemas.microsoft.com/office/drawing/2014/main" id="{21B90A98-7CF5-AF1A-460B-159250E93979}"/>
              </a:ext>
            </a:extLst>
          </p:cNvPr>
          <p:cNvCxnSpPr>
            <a:cxnSpLocks/>
          </p:cNvCxnSpPr>
          <p:nvPr/>
        </p:nvCxnSpPr>
        <p:spPr>
          <a:xfrm>
            <a:off x="5498591" y="2582263"/>
            <a:ext cx="896112" cy="0"/>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9" name="Rettangolo con angoli arrotondati 18">
            <a:extLst>
              <a:ext uri="{FF2B5EF4-FFF2-40B4-BE49-F238E27FC236}">
                <a16:creationId xmlns:a16="http://schemas.microsoft.com/office/drawing/2014/main" id="{36499E85-EBF1-2F93-5514-6E520704FB5A}"/>
              </a:ext>
            </a:extLst>
          </p:cNvPr>
          <p:cNvSpPr/>
          <p:nvPr/>
        </p:nvSpPr>
        <p:spPr>
          <a:xfrm>
            <a:off x="2212848" y="4407407"/>
            <a:ext cx="7360920" cy="901867"/>
          </a:xfrm>
          <a:prstGeom prst="roundRect">
            <a:avLst/>
          </a:prstGeom>
          <a:noFill/>
          <a:ln>
            <a:solidFill>
              <a:srgbClr val="822433"/>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CasellaDiTesto 19">
            <a:extLst>
              <a:ext uri="{FF2B5EF4-FFF2-40B4-BE49-F238E27FC236}">
                <a16:creationId xmlns:a16="http://schemas.microsoft.com/office/drawing/2014/main" id="{94D1067B-679E-BC86-3615-5F796DEEC854}"/>
              </a:ext>
            </a:extLst>
          </p:cNvPr>
          <p:cNvSpPr txBox="1"/>
          <p:nvPr/>
        </p:nvSpPr>
        <p:spPr>
          <a:xfrm>
            <a:off x="2024382" y="4473151"/>
            <a:ext cx="7452378" cy="707886"/>
          </a:xfrm>
          <a:prstGeom prst="rect">
            <a:avLst/>
          </a:prstGeom>
          <a:noFill/>
        </p:spPr>
        <p:txBody>
          <a:bodyPr wrap="square" rtlCol="0">
            <a:spAutoFit/>
          </a:bodyPr>
          <a:lstStyle/>
          <a:p>
            <a:pPr algn="ctr"/>
            <a:r>
              <a:rPr lang="en-US" sz="2000" dirty="0">
                <a:solidFill>
                  <a:prstClr val="black"/>
                </a:solidFill>
                <a:latin typeface="Univers Condensed Light"/>
              </a:rPr>
              <a:t>For each training sample, all three transformations are applied, and the resulting samples are added to the dataset together with the original one.</a:t>
            </a:r>
            <a:endParaRPr lang="en-GB" sz="2000" dirty="0">
              <a:solidFill>
                <a:prstClr val="black"/>
              </a:solidFill>
              <a:latin typeface="Univers Condensed Light"/>
            </a:endParaRPr>
          </a:p>
        </p:txBody>
      </p:sp>
    </p:spTree>
    <p:extLst>
      <p:ext uri="{BB962C8B-B14F-4D97-AF65-F5344CB8AC3E}">
        <p14:creationId xmlns:p14="http://schemas.microsoft.com/office/powerpoint/2010/main" val="3862808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183AC-AA08-18C3-4612-7E89A3ECE961}"/>
            </a:ext>
          </a:extLst>
        </p:cNvPr>
        <p:cNvGrpSpPr/>
        <p:nvPr/>
      </p:nvGrpSpPr>
      <p:grpSpPr>
        <a:xfrm>
          <a:off x="0" y="0"/>
          <a:ext cx="0" cy="0"/>
          <a:chOff x="0" y="0"/>
          <a:chExt cx="0" cy="0"/>
        </a:xfrm>
      </p:grpSpPr>
      <p:pic>
        <p:nvPicPr>
          <p:cNvPr id="2053" name="Immagine 2052" descr="Immagine che contiene design, busta, statico&#10;&#10;Il contenuto generato dall'IA potrebbe non essere corretto.">
            <a:extLst>
              <a:ext uri="{FF2B5EF4-FFF2-40B4-BE49-F238E27FC236}">
                <a16:creationId xmlns:a16="http://schemas.microsoft.com/office/drawing/2014/main" id="{A7C11F56-1ECD-46D6-5110-2CFB3005114E}"/>
              </a:ext>
            </a:extLst>
          </p:cNvPr>
          <p:cNvPicPr>
            <a:picLocks noChangeAspect="1"/>
          </p:cNvPicPr>
          <p:nvPr/>
        </p:nvPicPr>
        <p:blipFill>
          <a:blip r:embed="rId2"/>
          <a:srcRect l="11707" t="9332" r="105"/>
          <a:stretch>
            <a:fillRect/>
          </a:stretch>
        </p:blipFill>
        <p:spPr>
          <a:xfrm>
            <a:off x="0" y="1"/>
            <a:ext cx="1094960" cy="2066544"/>
          </a:xfrm>
          <a:prstGeom prst="rect">
            <a:avLst/>
          </a:prstGeom>
        </p:spPr>
      </p:pic>
      <p:sp>
        <p:nvSpPr>
          <p:cNvPr id="2" name="Segnaposto numero diapositiva 1">
            <a:extLst>
              <a:ext uri="{FF2B5EF4-FFF2-40B4-BE49-F238E27FC236}">
                <a16:creationId xmlns:a16="http://schemas.microsoft.com/office/drawing/2014/main" id="{B9B0C65B-148D-0201-A8FB-FC141403BE4E}"/>
              </a:ext>
            </a:extLst>
          </p:cNvPr>
          <p:cNvSpPr>
            <a:spLocks noGrp="1"/>
          </p:cNvSpPr>
          <p:nvPr>
            <p:ph type="sldNum" sz="quarter" idx="12"/>
          </p:nvPr>
        </p:nvSpPr>
        <p:spPr>
          <a:xfrm>
            <a:off x="188534" y="6512928"/>
            <a:ext cx="11787433" cy="365125"/>
          </a:xfrm>
        </p:spPr>
        <p:txBody>
          <a:bodyPr/>
          <a:lstStyle/>
          <a:p>
            <a:fld id="{6BDFA317-9872-4CA4-AEEB-C3769785CDD8}" type="slidenum">
              <a:rPr lang="en-GB" smtClean="0"/>
              <a:t>6</a:t>
            </a:fld>
            <a:endParaRPr lang="en-GB" dirty="0"/>
          </a:p>
        </p:txBody>
      </p:sp>
      <p:sp>
        <p:nvSpPr>
          <p:cNvPr id="4" name="Segnaposto numero diapositiva 1">
            <a:extLst>
              <a:ext uri="{FF2B5EF4-FFF2-40B4-BE49-F238E27FC236}">
                <a16:creationId xmlns:a16="http://schemas.microsoft.com/office/drawing/2014/main" id="{9287BE68-D21F-3D37-C00B-E8D219EC95D1}"/>
              </a:ext>
            </a:extLst>
          </p:cNvPr>
          <p:cNvSpPr txBox="1">
            <a:spLocks/>
          </p:cNvSpPr>
          <p:nvPr/>
        </p:nvSpPr>
        <p:spPr>
          <a:xfrm>
            <a:off x="9144" y="6512928"/>
            <a:ext cx="1591559"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Samuele Tomassacci</a:t>
            </a:r>
          </a:p>
        </p:txBody>
      </p:sp>
      <p:sp>
        <p:nvSpPr>
          <p:cNvPr id="5" name="Segnaposto numero diapositiva 1">
            <a:extLst>
              <a:ext uri="{FF2B5EF4-FFF2-40B4-BE49-F238E27FC236}">
                <a16:creationId xmlns:a16="http://schemas.microsoft.com/office/drawing/2014/main" id="{E8320E0D-4D53-592C-FC6B-65B61E7754EE}"/>
              </a:ext>
            </a:extLst>
          </p:cNvPr>
          <p:cNvSpPr txBox="1">
            <a:spLocks/>
          </p:cNvSpPr>
          <p:nvPr/>
        </p:nvSpPr>
        <p:spPr>
          <a:xfrm>
            <a:off x="5443586" y="6512928"/>
            <a:ext cx="1304828"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Neural Networks</a:t>
            </a:r>
          </a:p>
        </p:txBody>
      </p:sp>
      <p:pic>
        <p:nvPicPr>
          <p:cNvPr id="9" name="Picture 10">
            <a:extLst>
              <a:ext uri="{FF2B5EF4-FFF2-40B4-BE49-F238E27FC236}">
                <a16:creationId xmlns:a16="http://schemas.microsoft.com/office/drawing/2014/main" id="{F6AAE093-AB21-FDD7-C07F-29A30DEEB1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0034" y="98818"/>
            <a:ext cx="1490673" cy="448444"/>
          </a:xfrm>
          <a:prstGeom prst="rect">
            <a:avLst/>
          </a:prstGeom>
          <a:noFill/>
          <a:extLst>
            <a:ext uri="{909E8E84-426E-40DD-AFC4-6F175D3DCCD1}">
              <a14:hiddenFill xmlns:a14="http://schemas.microsoft.com/office/drawing/2010/main">
                <a:solidFill>
                  <a:srgbClr val="FFFFFF"/>
                </a:solidFill>
              </a14:hiddenFill>
            </a:ext>
          </a:extLst>
        </p:spPr>
      </p:pic>
      <p:sp>
        <p:nvSpPr>
          <p:cNvPr id="10" name="Titolo 1">
            <a:extLst>
              <a:ext uri="{FF2B5EF4-FFF2-40B4-BE49-F238E27FC236}">
                <a16:creationId xmlns:a16="http://schemas.microsoft.com/office/drawing/2014/main" id="{9CE14097-AB8F-C202-02B8-C90B1646614B}"/>
              </a:ext>
            </a:extLst>
          </p:cNvPr>
          <p:cNvSpPr>
            <a:spLocks noGrp="1"/>
          </p:cNvSpPr>
          <p:nvPr>
            <p:ph type="ctrTitle"/>
          </p:nvPr>
        </p:nvSpPr>
        <p:spPr>
          <a:xfrm>
            <a:off x="3141432" y="-18569"/>
            <a:ext cx="5604334" cy="683218"/>
          </a:xfrm>
        </p:spPr>
        <p:txBody>
          <a:bodyPr rtlCol="0" anchor="t">
            <a:noAutofit/>
          </a:bodyPr>
          <a:lstStyle/>
          <a:p>
            <a:r>
              <a:rPr lang="en-US" sz="4400" b="1" dirty="0">
                <a:solidFill>
                  <a:schemeClr val="tx1"/>
                </a:solidFill>
                <a:latin typeface="Bookman Old Style" panose="02050604050505020204" pitchFamily="18" charset="0"/>
              </a:rPr>
              <a:t>CT Block</a:t>
            </a:r>
            <a:br>
              <a:rPr lang="en-US" sz="4400" b="1" dirty="0">
                <a:solidFill>
                  <a:schemeClr val="tx1"/>
                </a:solidFill>
                <a:latin typeface="Bookman Old Style" panose="02050604050505020204" pitchFamily="18" charset="0"/>
              </a:rPr>
            </a:br>
            <a:br>
              <a:rPr lang="en-US" sz="4400" b="1" dirty="0">
                <a:solidFill>
                  <a:schemeClr val="tx1"/>
                </a:solidFill>
                <a:latin typeface="Bookman Old Style" panose="02050604050505020204" pitchFamily="18" charset="0"/>
              </a:rPr>
            </a:br>
            <a:endParaRPr lang="it" sz="4400" b="1" dirty="0">
              <a:solidFill>
                <a:schemeClr val="tx1"/>
              </a:solidFill>
              <a:latin typeface="Bookman Old Style" panose="02050604050505020204" pitchFamily="18" charset="0"/>
            </a:endParaRPr>
          </a:p>
        </p:txBody>
      </p:sp>
      <p:cxnSp>
        <p:nvCxnSpPr>
          <p:cNvPr id="12" name="Connettore diritto 11">
            <a:extLst>
              <a:ext uri="{FF2B5EF4-FFF2-40B4-BE49-F238E27FC236}">
                <a16:creationId xmlns:a16="http://schemas.microsoft.com/office/drawing/2014/main" id="{14F20B6B-47EA-90A3-AD0E-13C43FEED336}"/>
              </a:ext>
            </a:extLst>
          </p:cNvPr>
          <p:cNvCxnSpPr/>
          <p:nvPr/>
        </p:nvCxnSpPr>
        <p:spPr>
          <a:xfrm>
            <a:off x="4739148" y="664649"/>
            <a:ext cx="2408903"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22" name="AutoShape 2" descr="5 Best Free Google Slides Space Theme - MasterBundles">
            <a:extLst>
              <a:ext uri="{FF2B5EF4-FFF2-40B4-BE49-F238E27FC236}">
                <a16:creationId xmlns:a16="http://schemas.microsoft.com/office/drawing/2014/main" id="{E4D47A85-2A38-8216-FB17-807693539A1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cxnSp>
        <p:nvCxnSpPr>
          <p:cNvPr id="3" name="Connettore diritto 2">
            <a:extLst>
              <a:ext uri="{FF2B5EF4-FFF2-40B4-BE49-F238E27FC236}">
                <a16:creationId xmlns:a16="http://schemas.microsoft.com/office/drawing/2014/main" id="{B42EB86D-619C-33E7-6561-97F91D825B3A}"/>
              </a:ext>
            </a:extLst>
          </p:cNvPr>
          <p:cNvCxnSpPr>
            <a:cxnSpLocks/>
          </p:cNvCxnSpPr>
          <p:nvPr/>
        </p:nvCxnSpPr>
        <p:spPr>
          <a:xfrm>
            <a:off x="0" y="6512928"/>
            <a:ext cx="12192000"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6" name="Titolo 1">
            <a:extLst>
              <a:ext uri="{FF2B5EF4-FFF2-40B4-BE49-F238E27FC236}">
                <a16:creationId xmlns:a16="http://schemas.microsoft.com/office/drawing/2014/main" id="{0E293FF4-986C-E47D-66CD-D44DC09DF778}"/>
              </a:ext>
            </a:extLst>
          </p:cNvPr>
          <p:cNvSpPr txBox="1">
            <a:spLocks/>
          </p:cNvSpPr>
          <p:nvPr/>
        </p:nvSpPr>
        <p:spPr>
          <a:xfrm>
            <a:off x="3141432" y="10852"/>
            <a:ext cx="5604334" cy="683218"/>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en-US" sz="4400" b="1" dirty="0">
                <a:latin typeface="Bookman Old Style" panose="02050604050505020204" pitchFamily="18" charset="0"/>
              </a:rPr>
            </a:br>
            <a:br>
              <a:rPr lang="en-US" sz="4400" b="1" dirty="0">
                <a:latin typeface="Bookman Old Style" panose="02050604050505020204" pitchFamily="18" charset="0"/>
              </a:rPr>
            </a:br>
            <a:endParaRPr lang="it" sz="4400" b="1" dirty="0">
              <a:latin typeface="Bookman Old Style" panose="02050604050505020204" pitchFamily="18" charset="0"/>
            </a:endParaRPr>
          </a:p>
        </p:txBody>
      </p:sp>
      <p:sp>
        <p:nvSpPr>
          <p:cNvPr id="7" name="CasellaDiTesto 6">
            <a:extLst>
              <a:ext uri="{FF2B5EF4-FFF2-40B4-BE49-F238E27FC236}">
                <a16:creationId xmlns:a16="http://schemas.microsoft.com/office/drawing/2014/main" id="{E8CD31A5-1CD6-2337-6989-E68573CEC5AA}"/>
              </a:ext>
            </a:extLst>
          </p:cNvPr>
          <p:cNvSpPr txBox="1"/>
          <p:nvPr/>
        </p:nvSpPr>
        <p:spPr>
          <a:xfrm>
            <a:off x="2171665" y="826073"/>
            <a:ext cx="7567265" cy="707886"/>
          </a:xfrm>
          <a:prstGeom prst="rect">
            <a:avLst/>
          </a:prstGeom>
          <a:noFill/>
        </p:spPr>
        <p:txBody>
          <a:bodyPr wrap="square" rtlCol="0">
            <a:spAutoFit/>
          </a:bodyPr>
          <a:lstStyle/>
          <a:p>
            <a:pPr algn="ctr"/>
            <a:r>
              <a:rPr lang="en-GB" sz="2000" dirty="0">
                <a:solidFill>
                  <a:prstClr val="black"/>
                </a:solidFill>
                <a:latin typeface="Univers Condensed Light"/>
              </a:rPr>
              <a:t>It is composed of two parallel branches, whose outputs are then concatenated on the channel axis and convolved to restore the initial number of channels </a:t>
            </a:r>
          </a:p>
        </p:txBody>
      </p:sp>
      <p:cxnSp>
        <p:nvCxnSpPr>
          <p:cNvPr id="15" name="Connettore diritto 14">
            <a:extLst>
              <a:ext uri="{FF2B5EF4-FFF2-40B4-BE49-F238E27FC236}">
                <a16:creationId xmlns:a16="http://schemas.microsoft.com/office/drawing/2014/main" id="{B4C4ACD7-FABB-071F-CA15-4FBB9F33E2E5}"/>
              </a:ext>
            </a:extLst>
          </p:cNvPr>
          <p:cNvCxnSpPr>
            <a:cxnSpLocks/>
          </p:cNvCxnSpPr>
          <p:nvPr/>
        </p:nvCxnSpPr>
        <p:spPr>
          <a:xfrm>
            <a:off x="3465576" y="2139697"/>
            <a:ext cx="4846320" cy="0"/>
          </a:xfrm>
          <a:prstGeom prst="line">
            <a:avLst/>
          </a:prstGeom>
          <a:ln>
            <a:solidFill>
              <a:srgbClr val="822433"/>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6" name="Connettore 2 15">
            <a:extLst>
              <a:ext uri="{FF2B5EF4-FFF2-40B4-BE49-F238E27FC236}">
                <a16:creationId xmlns:a16="http://schemas.microsoft.com/office/drawing/2014/main" id="{9C764235-C796-3CE3-93FF-553738E534A0}"/>
              </a:ext>
            </a:extLst>
          </p:cNvPr>
          <p:cNvCxnSpPr>
            <a:cxnSpLocks/>
          </p:cNvCxnSpPr>
          <p:nvPr/>
        </p:nvCxnSpPr>
        <p:spPr>
          <a:xfrm>
            <a:off x="5955298" y="1602642"/>
            <a:ext cx="0" cy="463903"/>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21" name="Connettore 2 20">
            <a:extLst>
              <a:ext uri="{FF2B5EF4-FFF2-40B4-BE49-F238E27FC236}">
                <a16:creationId xmlns:a16="http://schemas.microsoft.com/office/drawing/2014/main" id="{3CA46E79-5F93-6DB0-6F20-AB58781AE4C5}"/>
              </a:ext>
            </a:extLst>
          </p:cNvPr>
          <p:cNvCxnSpPr>
            <a:cxnSpLocks/>
          </p:cNvCxnSpPr>
          <p:nvPr/>
        </p:nvCxnSpPr>
        <p:spPr>
          <a:xfrm>
            <a:off x="3465576" y="2139697"/>
            <a:ext cx="0" cy="1136903"/>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24" name="Connettore 2 23">
            <a:extLst>
              <a:ext uri="{FF2B5EF4-FFF2-40B4-BE49-F238E27FC236}">
                <a16:creationId xmlns:a16="http://schemas.microsoft.com/office/drawing/2014/main" id="{4E95A836-B05F-805B-055B-4EACB2142CB5}"/>
              </a:ext>
            </a:extLst>
          </p:cNvPr>
          <p:cNvCxnSpPr>
            <a:cxnSpLocks/>
          </p:cNvCxnSpPr>
          <p:nvPr/>
        </p:nvCxnSpPr>
        <p:spPr>
          <a:xfrm>
            <a:off x="8311896" y="2139696"/>
            <a:ext cx="0" cy="1136903"/>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25" name="CasellaDiTesto 24">
            <a:extLst>
              <a:ext uri="{FF2B5EF4-FFF2-40B4-BE49-F238E27FC236}">
                <a16:creationId xmlns:a16="http://schemas.microsoft.com/office/drawing/2014/main" id="{A428DF1D-8A57-D500-16FF-B9E24990FCA3}"/>
              </a:ext>
            </a:extLst>
          </p:cNvPr>
          <p:cNvSpPr txBox="1"/>
          <p:nvPr/>
        </p:nvSpPr>
        <p:spPr>
          <a:xfrm>
            <a:off x="1585951" y="3351173"/>
            <a:ext cx="3759250" cy="707886"/>
          </a:xfrm>
          <a:prstGeom prst="rect">
            <a:avLst/>
          </a:prstGeom>
          <a:noFill/>
        </p:spPr>
        <p:txBody>
          <a:bodyPr wrap="square" rtlCol="0">
            <a:spAutoFit/>
          </a:bodyPr>
          <a:lstStyle/>
          <a:p>
            <a:pPr algn="ctr"/>
            <a:r>
              <a:rPr lang="en-GB" sz="2000" b="1" dirty="0">
                <a:solidFill>
                  <a:prstClr val="black"/>
                </a:solidFill>
                <a:latin typeface="Univers Condensed Light"/>
              </a:rPr>
              <a:t>Transformer Block</a:t>
            </a:r>
          </a:p>
          <a:p>
            <a:pPr algn="ctr"/>
            <a:r>
              <a:rPr lang="en-GB" sz="2000" dirty="0">
                <a:solidFill>
                  <a:prstClr val="black"/>
                </a:solidFill>
                <a:latin typeface="Univers Condensed Light"/>
              </a:rPr>
              <a:t>To extract non-local features</a:t>
            </a:r>
          </a:p>
        </p:txBody>
      </p:sp>
      <p:sp>
        <p:nvSpPr>
          <p:cNvPr id="26" name="CasellaDiTesto 25">
            <a:extLst>
              <a:ext uri="{FF2B5EF4-FFF2-40B4-BE49-F238E27FC236}">
                <a16:creationId xmlns:a16="http://schemas.microsoft.com/office/drawing/2014/main" id="{8B1276BF-E0E4-F69A-3998-6DCA25CE3698}"/>
              </a:ext>
            </a:extLst>
          </p:cNvPr>
          <p:cNvSpPr txBox="1"/>
          <p:nvPr/>
        </p:nvSpPr>
        <p:spPr>
          <a:xfrm>
            <a:off x="6432271" y="3325444"/>
            <a:ext cx="3759250" cy="707886"/>
          </a:xfrm>
          <a:prstGeom prst="rect">
            <a:avLst/>
          </a:prstGeom>
          <a:noFill/>
        </p:spPr>
        <p:txBody>
          <a:bodyPr wrap="square" rtlCol="0">
            <a:spAutoFit/>
          </a:bodyPr>
          <a:lstStyle/>
          <a:p>
            <a:pPr algn="ctr"/>
            <a:r>
              <a:rPr lang="en-GB" sz="2000" b="1" dirty="0">
                <a:solidFill>
                  <a:prstClr val="black"/>
                </a:solidFill>
                <a:latin typeface="Univers Condensed Light"/>
              </a:rPr>
              <a:t>CNN Block</a:t>
            </a:r>
          </a:p>
          <a:p>
            <a:pPr algn="ctr"/>
            <a:r>
              <a:rPr lang="en-GB" sz="2000" dirty="0">
                <a:solidFill>
                  <a:prstClr val="black"/>
                </a:solidFill>
                <a:latin typeface="Univers Condensed Light"/>
              </a:rPr>
              <a:t>To extract local features</a:t>
            </a:r>
          </a:p>
        </p:txBody>
      </p:sp>
      <p:pic>
        <p:nvPicPr>
          <p:cNvPr id="28" name="Immagine 27" descr="Immagine che contiene testo, schermata, Carattere, linea&#10;&#10;Il contenuto generato dall'IA potrebbe non essere corretto.">
            <a:extLst>
              <a:ext uri="{FF2B5EF4-FFF2-40B4-BE49-F238E27FC236}">
                <a16:creationId xmlns:a16="http://schemas.microsoft.com/office/drawing/2014/main" id="{FC81AF43-34E5-F07E-F181-AA9F694A2BFB}"/>
              </a:ext>
            </a:extLst>
          </p:cNvPr>
          <p:cNvPicPr>
            <a:picLocks noChangeAspect="1"/>
          </p:cNvPicPr>
          <p:nvPr/>
        </p:nvPicPr>
        <p:blipFill>
          <a:blip r:embed="rId4"/>
          <a:stretch>
            <a:fillRect/>
          </a:stretch>
        </p:blipFill>
        <p:spPr>
          <a:xfrm>
            <a:off x="6379020" y="4194231"/>
            <a:ext cx="4031014" cy="1999120"/>
          </a:xfrm>
          <a:prstGeom prst="rect">
            <a:avLst/>
          </a:prstGeom>
        </p:spPr>
      </p:pic>
      <p:pic>
        <p:nvPicPr>
          <p:cNvPr id="32" name="Immagine 31" descr="Immagine che contiene diagramma, linea, Carattere, schermata&#10;&#10;Il contenuto generato dall'IA potrebbe non essere corretto.">
            <a:extLst>
              <a:ext uri="{FF2B5EF4-FFF2-40B4-BE49-F238E27FC236}">
                <a16:creationId xmlns:a16="http://schemas.microsoft.com/office/drawing/2014/main" id="{38DD3A5F-1F88-014B-55A4-0D86FC266C36}"/>
              </a:ext>
            </a:extLst>
          </p:cNvPr>
          <p:cNvPicPr>
            <a:picLocks noChangeAspect="1"/>
          </p:cNvPicPr>
          <p:nvPr/>
        </p:nvPicPr>
        <p:blipFill>
          <a:blip r:embed="rId5"/>
          <a:stretch>
            <a:fillRect/>
          </a:stretch>
        </p:blipFill>
        <p:spPr>
          <a:xfrm>
            <a:off x="1155441" y="4271117"/>
            <a:ext cx="4620270" cy="1876687"/>
          </a:xfrm>
          <a:prstGeom prst="rect">
            <a:avLst/>
          </a:prstGeom>
        </p:spPr>
      </p:pic>
    </p:spTree>
    <p:extLst>
      <p:ext uri="{BB962C8B-B14F-4D97-AF65-F5344CB8AC3E}">
        <p14:creationId xmlns:p14="http://schemas.microsoft.com/office/powerpoint/2010/main" val="541030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2E241-C9BD-32B1-7354-23AF21EA5DC0}"/>
            </a:ext>
          </a:extLst>
        </p:cNvPr>
        <p:cNvGrpSpPr/>
        <p:nvPr/>
      </p:nvGrpSpPr>
      <p:grpSpPr>
        <a:xfrm>
          <a:off x="0" y="0"/>
          <a:ext cx="0" cy="0"/>
          <a:chOff x="0" y="0"/>
          <a:chExt cx="0" cy="0"/>
        </a:xfrm>
      </p:grpSpPr>
      <p:pic>
        <p:nvPicPr>
          <p:cNvPr id="2053" name="Immagine 2052" descr="Immagine che contiene design, busta, statico&#10;&#10;Il contenuto generato dall'IA potrebbe non essere corretto.">
            <a:extLst>
              <a:ext uri="{FF2B5EF4-FFF2-40B4-BE49-F238E27FC236}">
                <a16:creationId xmlns:a16="http://schemas.microsoft.com/office/drawing/2014/main" id="{3A17ADC8-2228-8563-A9B6-DF5896179C9E}"/>
              </a:ext>
            </a:extLst>
          </p:cNvPr>
          <p:cNvPicPr>
            <a:picLocks noChangeAspect="1"/>
          </p:cNvPicPr>
          <p:nvPr/>
        </p:nvPicPr>
        <p:blipFill>
          <a:blip r:embed="rId2"/>
          <a:srcRect l="11707" t="9332" r="105"/>
          <a:stretch>
            <a:fillRect/>
          </a:stretch>
        </p:blipFill>
        <p:spPr>
          <a:xfrm>
            <a:off x="0" y="1"/>
            <a:ext cx="1094960" cy="2066544"/>
          </a:xfrm>
          <a:prstGeom prst="rect">
            <a:avLst/>
          </a:prstGeom>
        </p:spPr>
      </p:pic>
      <p:sp>
        <p:nvSpPr>
          <p:cNvPr id="2" name="Segnaposto numero diapositiva 1">
            <a:extLst>
              <a:ext uri="{FF2B5EF4-FFF2-40B4-BE49-F238E27FC236}">
                <a16:creationId xmlns:a16="http://schemas.microsoft.com/office/drawing/2014/main" id="{1075BB07-40B8-3EF7-13B7-5D338B4A0FFD}"/>
              </a:ext>
            </a:extLst>
          </p:cNvPr>
          <p:cNvSpPr>
            <a:spLocks noGrp="1"/>
          </p:cNvSpPr>
          <p:nvPr>
            <p:ph type="sldNum" sz="quarter" idx="12"/>
          </p:nvPr>
        </p:nvSpPr>
        <p:spPr>
          <a:xfrm>
            <a:off x="188534" y="6512928"/>
            <a:ext cx="11787433" cy="365125"/>
          </a:xfrm>
        </p:spPr>
        <p:txBody>
          <a:bodyPr/>
          <a:lstStyle/>
          <a:p>
            <a:fld id="{6BDFA317-9872-4CA4-AEEB-C3769785CDD8}" type="slidenum">
              <a:rPr lang="en-GB" smtClean="0"/>
              <a:t>7</a:t>
            </a:fld>
            <a:endParaRPr lang="en-GB" dirty="0"/>
          </a:p>
        </p:txBody>
      </p:sp>
      <p:sp>
        <p:nvSpPr>
          <p:cNvPr id="4" name="Segnaposto numero diapositiva 1">
            <a:extLst>
              <a:ext uri="{FF2B5EF4-FFF2-40B4-BE49-F238E27FC236}">
                <a16:creationId xmlns:a16="http://schemas.microsoft.com/office/drawing/2014/main" id="{0DF3B427-2C20-1278-5CF7-DB1913477260}"/>
              </a:ext>
            </a:extLst>
          </p:cNvPr>
          <p:cNvSpPr txBox="1">
            <a:spLocks/>
          </p:cNvSpPr>
          <p:nvPr/>
        </p:nvSpPr>
        <p:spPr>
          <a:xfrm>
            <a:off x="9144" y="6512928"/>
            <a:ext cx="1591559"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Samuele Tomassacci</a:t>
            </a:r>
          </a:p>
        </p:txBody>
      </p:sp>
      <p:sp>
        <p:nvSpPr>
          <p:cNvPr id="5" name="Segnaposto numero diapositiva 1">
            <a:extLst>
              <a:ext uri="{FF2B5EF4-FFF2-40B4-BE49-F238E27FC236}">
                <a16:creationId xmlns:a16="http://schemas.microsoft.com/office/drawing/2014/main" id="{8B6EDAFF-E1B5-19CB-B1F7-2872620C1FAE}"/>
              </a:ext>
            </a:extLst>
          </p:cNvPr>
          <p:cNvSpPr txBox="1">
            <a:spLocks/>
          </p:cNvSpPr>
          <p:nvPr/>
        </p:nvSpPr>
        <p:spPr>
          <a:xfrm>
            <a:off x="5443586" y="6512928"/>
            <a:ext cx="1304828"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Neural Networks</a:t>
            </a:r>
          </a:p>
        </p:txBody>
      </p:sp>
      <p:pic>
        <p:nvPicPr>
          <p:cNvPr id="9" name="Picture 10">
            <a:extLst>
              <a:ext uri="{FF2B5EF4-FFF2-40B4-BE49-F238E27FC236}">
                <a16:creationId xmlns:a16="http://schemas.microsoft.com/office/drawing/2014/main" id="{FD05BFE9-A6ED-F68A-A252-C7367D8C98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0034" y="98818"/>
            <a:ext cx="1490673" cy="448444"/>
          </a:xfrm>
          <a:prstGeom prst="rect">
            <a:avLst/>
          </a:prstGeom>
          <a:noFill/>
          <a:extLst>
            <a:ext uri="{909E8E84-426E-40DD-AFC4-6F175D3DCCD1}">
              <a14:hiddenFill xmlns:a14="http://schemas.microsoft.com/office/drawing/2010/main">
                <a:solidFill>
                  <a:srgbClr val="FFFFFF"/>
                </a:solidFill>
              </a14:hiddenFill>
            </a:ext>
          </a:extLst>
        </p:spPr>
      </p:pic>
      <p:sp>
        <p:nvSpPr>
          <p:cNvPr id="10" name="Titolo 1">
            <a:extLst>
              <a:ext uri="{FF2B5EF4-FFF2-40B4-BE49-F238E27FC236}">
                <a16:creationId xmlns:a16="http://schemas.microsoft.com/office/drawing/2014/main" id="{BFE18CD2-D663-44A3-819F-92361DF5F738}"/>
              </a:ext>
            </a:extLst>
          </p:cNvPr>
          <p:cNvSpPr>
            <a:spLocks noGrp="1"/>
          </p:cNvSpPr>
          <p:nvPr>
            <p:ph type="ctrTitle"/>
          </p:nvPr>
        </p:nvSpPr>
        <p:spPr>
          <a:xfrm>
            <a:off x="1973051" y="-1713"/>
            <a:ext cx="7941096" cy="683218"/>
          </a:xfrm>
        </p:spPr>
        <p:txBody>
          <a:bodyPr rtlCol="0" anchor="t">
            <a:noAutofit/>
          </a:bodyPr>
          <a:lstStyle/>
          <a:p>
            <a:r>
              <a:rPr lang="en-US" sz="4400" b="1" dirty="0">
                <a:latin typeface="Bookman Old Style" panose="02050604050505020204" pitchFamily="18" charset="0"/>
              </a:rPr>
              <a:t>Channel-Spatial Attention</a:t>
            </a:r>
            <a:br>
              <a:rPr lang="en-US" sz="4400" b="1" dirty="0">
                <a:solidFill>
                  <a:schemeClr val="tx1"/>
                </a:solidFill>
                <a:latin typeface="Bookman Old Style" panose="02050604050505020204" pitchFamily="18" charset="0"/>
              </a:rPr>
            </a:br>
            <a:br>
              <a:rPr lang="en-US" sz="4400" b="1" dirty="0">
                <a:solidFill>
                  <a:schemeClr val="tx1"/>
                </a:solidFill>
                <a:latin typeface="Bookman Old Style" panose="02050604050505020204" pitchFamily="18" charset="0"/>
              </a:rPr>
            </a:br>
            <a:endParaRPr lang="it" sz="4400" b="1" dirty="0">
              <a:solidFill>
                <a:schemeClr val="tx1"/>
              </a:solidFill>
              <a:latin typeface="Bookman Old Style" panose="02050604050505020204" pitchFamily="18" charset="0"/>
            </a:endParaRPr>
          </a:p>
        </p:txBody>
      </p:sp>
      <p:cxnSp>
        <p:nvCxnSpPr>
          <p:cNvPr id="12" name="Connettore diritto 11">
            <a:extLst>
              <a:ext uri="{FF2B5EF4-FFF2-40B4-BE49-F238E27FC236}">
                <a16:creationId xmlns:a16="http://schemas.microsoft.com/office/drawing/2014/main" id="{5A8C4ADD-B230-98C3-A427-EF5F7CBCCA34}"/>
              </a:ext>
            </a:extLst>
          </p:cNvPr>
          <p:cNvCxnSpPr>
            <a:cxnSpLocks/>
          </p:cNvCxnSpPr>
          <p:nvPr/>
        </p:nvCxnSpPr>
        <p:spPr>
          <a:xfrm>
            <a:off x="2277853" y="681505"/>
            <a:ext cx="7414787"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22" name="AutoShape 2" descr="5 Best Free Google Slides Space Theme - MasterBundles">
            <a:extLst>
              <a:ext uri="{FF2B5EF4-FFF2-40B4-BE49-F238E27FC236}">
                <a16:creationId xmlns:a16="http://schemas.microsoft.com/office/drawing/2014/main" id="{8BDDE393-A1C6-471A-0049-C7BD67E4F8D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cxnSp>
        <p:nvCxnSpPr>
          <p:cNvPr id="3" name="Connettore diritto 2">
            <a:extLst>
              <a:ext uri="{FF2B5EF4-FFF2-40B4-BE49-F238E27FC236}">
                <a16:creationId xmlns:a16="http://schemas.microsoft.com/office/drawing/2014/main" id="{8425F0DC-7F86-64F1-5A0E-5C168E3E21D7}"/>
              </a:ext>
            </a:extLst>
          </p:cNvPr>
          <p:cNvCxnSpPr>
            <a:cxnSpLocks/>
          </p:cNvCxnSpPr>
          <p:nvPr/>
        </p:nvCxnSpPr>
        <p:spPr>
          <a:xfrm>
            <a:off x="0" y="6512928"/>
            <a:ext cx="12192000"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6" name="CasellaDiTesto 5">
            <a:extLst>
              <a:ext uri="{FF2B5EF4-FFF2-40B4-BE49-F238E27FC236}">
                <a16:creationId xmlns:a16="http://schemas.microsoft.com/office/drawing/2014/main" id="{C1FC75A6-DC5B-1D75-F221-460873702F4C}"/>
              </a:ext>
            </a:extLst>
          </p:cNvPr>
          <p:cNvSpPr txBox="1"/>
          <p:nvPr/>
        </p:nvSpPr>
        <p:spPr>
          <a:xfrm>
            <a:off x="1094960" y="837491"/>
            <a:ext cx="8490239" cy="400110"/>
          </a:xfrm>
          <a:prstGeom prst="rect">
            <a:avLst/>
          </a:prstGeom>
          <a:noFill/>
        </p:spPr>
        <p:txBody>
          <a:bodyPr wrap="square" rtlCol="0">
            <a:spAutoFit/>
          </a:bodyPr>
          <a:lstStyle/>
          <a:p>
            <a:pPr algn="ctr"/>
            <a:r>
              <a:rPr lang="en-GB" sz="2000" dirty="0">
                <a:solidFill>
                  <a:prstClr val="black"/>
                </a:solidFill>
                <a:latin typeface="Univers Condensed Light"/>
              </a:rPr>
              <a:t>Two consecutive modules to analyse data from both a spatial and a spectral perspective</a:t>
            </a:r>
          </a:p>
        </p:txBody>
      </p:sp>
      <p:cxnSp>
        <p:nvCxnSpPr>
          <p:cNvPr id="7" name="Connettore 2 6">
            <a:extLst>
              <a:ext uri="{FF2B5EF4-FFF2-40B4-BE49-F238E27FC236}">
                <a16:creationId xmlns:a16="http://schemas.microsoft.com/office/drawing/2014/main" id="{0D190146-42CC-46D4-794A-D1232FC2B88D}"/>
              </a:ext>
            </a:extLst>
          </p:cNvPr>
          <p:cNvCxnSpPr>
            <a:cxnSpLocks/>
          </p:cNvCxnSpPr>
          <p:nvPr/>
        </p:nvCxnSpPr>
        <p:spPr>
          <a:xfrm>
            <a:off x="4419218" y="1417506"/>
            <a:ext cx="0" cy="485449"/>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1" name="CasellaDiTesto 10">
            <a:extLst>
              <a:ext uri="{FF2B5EF4-FFF2-40B4-BE49-F238E27FC236}">
                <a16:creationId xmlns:a16="http://schemas.microsoft.com/office/drawing/2014/main" id="{1C8F8174-CC7D-BD18-5C4A-9C6C8276CB8C}"/>
              </a:ext>
            </a:extLst>
          </p:cNvPr>
          <p:cNvSpPr txBox="1"/>
          <p:nvPr/>
        </p:nvSpPr>
        <p:spPr>
          <a:xfrm>
            <a:off x="879504" y="4415670"/>
            <a:ext cx="7115237" cy="1323439"/>
          </a:xfrm>
          <a:prstGeom prst="rect">
            <a:avLst/>
          </a:prstGeom>
          <a:noFill/>
        </p:spPr>
        <p:txBody>
          <a:bodyPr wrap="square" rtlCol="0">
            <a:spAutoFit/>
          </a:bodyPr>
          <a:lstStyle/>
          <a:p>
            <a:pPr algn="ctr"/>
            <a:r>
              <a:rPr lang="en-GB" sz="2000" b="1" dirty="0">
                <a:solidFill>
                  <a:prstClr val="black"/>
                </a:solidFill>
                <a:latin typeface="Univers Condensed Light"/>
              </a:rPr>
              <a:t>Spatial attention </a:t>
            </a:r>
            <a:r>
              <a:rPr lang="en-GB" sz="2000" dirty="0">
                <a:solidFill>
                  <a:prstClr val="black"/>
                </a:solidFill>
                <a:latin typeface="Univers Condensed Light"/>
              </a:rPr>
              <a:t>aims to assign a weight to each spatial pixel of the patch.</a:t>
            </a:r>
          </a:p>
          <a:p>
            <a:pPr algn="ctr"/>
            <a:r>
              <a:rPr lang="en-GB" sz="2000" dirty="0">
                <a:solidFill>
                  <a:prstClr val="black"/>
                </a:solidFill>
                <a:latin typeface="Univers Condensed Light"/>
              </a:rPr>
              <a:t>Firstly, max, min, mean and std are computed for each pixel across the channels. To extract the weights convolution operations are applied to the tensor composed of the statistics above</a:t>
            </a:r>
          </a:p>
        </p:txBody>
      </p:sp>
      <p:pic>
        <p:nvPicPr>
          <p:cNvPr id="14" name="Immagine 13" descr="Immagine che contiene testo, schermata, Carattere, diagramma&#10;&#10;Il contenuto generato dall'IA potrebbe non essere corretto.">
            <a:extLst>
              <a:ext uri="{FF2B5EF4-FFF2-40B4-BE49-F238E27FC236}">
                <a16:creationId xmlns:a16="http://schemas.microsoft.com/office/drawing/2014/main" id="{AED60082-1010-BC75-2040-501E6CD2F25B}"/>
              </a:ext>
            </a:extLst>
          </p:cNvPr>
          <p:cNvPicPr>
            <a:picLocks noChangeAspect="1"/>
          </p:cNvPicPr>
          <p:nvPr/>
        </p:nvPicPr>
        <p:blipFill>
          <a:blip r:embed="rId4"/>
          <a:stretch>
            <a:fillRect/>
          </a:stretch>
        </p:blipFill>
        <p:spPr>
          <a:xfrm>
            <a:off x="8353870" y="1462293"/>
            <a:ext cx="2294699" cy="2108642"/>
          </a:xfrm>
          <a:prstGeom prst="rect">
            <a:avLst/>
          </a:prstGeom>
        </p:spPr>
      </p:pic>
      <p:cxnSp>
        <p:nvCxnSpPr>
          <p:cNvPr id="15" name="Connettore 2 14">
            <a:extLst>
              <a:ext uri="{FF2B5EF4-FFF2-40B4-BE49-F238E27FC236}">
                <a16:creationId xmlns:a16="http://schemas.microsoft.com/office/drawing/2014/main" id="{74109A91-9BD2-EA23-86A2-7680D2244D75}"/>
              </a:ext>
            </a:extLst>
          </p:cNvPr>
          <p:cNvCxnSpPr>
            <a:cxnSpLocks/>
          </p:cNvCxnSpPr>
          <p:nvPr/>
        </p:nvCxnSpPr>
        <p:spPr>
          <a:xfrm>
            <a:off x="4437123" y="3678354"/>
            <a:ext cx="0" cy="485449"/>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6" name="CasellaDiTesto 15">
            <a:extLst>
              <a:ext uri="{FF2B5EF4-FFF2-40B4-BE49-F238E27FC236}">
                <a16:creationId xmlns:a16="http://schemas.microsoft.com/office/drawing/2014/main" id="{1DB81F37-19BA-E0F5-5FFB-3093546F8A76}"/>
              </a:ext>
            </a:extLst>
          </p:cNvPr>
          <p:cNvSpPr txBox="1"/>
          <p:nvPr/>
        </p:nvSpPr>
        <p:spPr>
          <a:xfrm>
            <a:off x="1023143" y="2154822"/>
            <a:ext cx="7115237" cy="1323439"/>
          </a:xfrm>
          <a:prstGeom prst="rect">
            <a:avLst/>
          </a:prstGeom>
          <a:noFill/>
        </p:spPr>
        <p:txBody>
          <a:bodyPr wrap="square" rtlCol="0">
            <a:spAutoFit/>
          </a:bodyPr>
          <a:lstStyle/>
          <a:p>
            <a:pPr algn="ctr"/>
            <a:r>
              <a:rPr lang="en-US" sz="2000" b="1" dirty="0">
                <a:solidFill>
                  <a:prstClr val="black"/>
                </a:solidFill>
                <a:latin typeface="Univers Condensed Light"/>
              </a:rPr>
              <a:t>Channel attention </a:t>
            </a:r>
            <a:r>
              <a:rPr lang="en-US" sz="2000" dirty="0">
                <a:solidFill>
                  <a:prstClr val="black"/>
                </a:solidFill>
                <a:latin typeface="Univers Condensed Light"/>
              </a:rPr>
              <a:t>aims to assign a weight to each channel in order to emphasize the most important ones over the others.</a:t>
            </a:r>
          </a:p>
          <a:p>
            <a:pPr algn="ctr"/>
            <a:r>
              <a:rPr lang="en-GB" sz="2000" dirty="0">
                <a:solidFill>
                  <a:prstClr val="black"/>
                </a:solidFill>
                <a:latin typeface="Univers Condensed Light"/>
              </a:rPr>
              <a:t>After a pooling across the spatial dimensions, 1D convolution is applied to find the weights </a:t>
            </a:r>
          </a:p>
        </p:txBody>
      </p:sp>
      <p:pic>
        <p:nvPicPr>
          <p:cNvPr id="18" name="Immagine 17" descr="Immagine che contiene testo, Carattere, schermata, linea&#10;&#10;Il contenuto generato dall'IA potrebbe non essere corretto.">
            <a:extLst>
              <a:ext uri="{FF2B5EF4-FFF2-40B4-BE49-F238E27FC236}">
                <a16:creationId xmlns:a16="http://schemas.microsoft.com/office/drawing/2014/main" id="{28C79F32-11DD-09F6-9B00-65987F8372C0}"/>
              </a:ext>
            </a:extLst>
          </p:cNvPr>
          <p:cNvPicPr>
            <a:picLocks noChangeAspect="1"/>
          </p:cNvPicPr>
          <p:nvPr/>
        </p:nvPicPr>
        <p:blipFill>
          <a:blip r:embed="rId5"/>
          <a:stretch>
            <a:fillRect/>
          </a:stretch>
        </p:blipFill>
        <p:spPr>
          <a:xfrm>
            <a:off x="8467564" y="4040418"/>
            <a:ext cx="3183260" cy="2013465"/>
          </a:xfrm>
          <a:prstGeom prst="rect">
            <a:avLst/>
          </a:prstGeom>
        </p:spPr>
      </p:pic>
    </p:spTree>
    <p:extLst>
      <p:ext uri="{BB962C8B-B14F-4D97-AF65-F5344CB8AC3E}">
        <p14:creationId xmlns:p14="http://schemas.microsoft.com/office/powerpoint/2010/main" val="2953587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96F29-F608-AF43-9860-D1D059FA6EF1}"/>
            </a:ext>
          </a:extLst>
        </p:cNvPr>
        <p:cNvGrpSpPr/>
        <p:nvPr/>
      </p:nvGrpSpPr>
      <p:grpSpPr>
        <a:xfrm>
          <a:off x="0" y="0"/>
          <a:ext cx="0" cy="0"/>
          <a:chOff x="0" y="0"/>
          <a:chExt cx="0" cy="0"/>
        </a:xfrm>
      </p:grpSpPr>
      <p:pic>
        <p:nvPicPr>
          <p:cNvPr id="2053" name="Immagine 2052" descr="Immagine che contiene design, busta, statico&#10;&#10;Il contenuto generato dall'IA potrebbe non essere corretto.">
            <a:extLst>
              <a:ext uri="{FF2B5EF4-FFF2-40B4-BE49-F238E27FC236}">
                <a16:creationId xmlns:a16="http://schemas.microsoft.com/office/drawing/2014/main" id="{470272AF-4309-9F2E-487B-41FC281DE983}"/>
              </a:ext>
            </a:extLst>
          </p:cNvPr>
          <p:cNvPicPr>
            <a:picLocks noChangeAspect="1"/>
          </p:cNvPicPr>
          <p:nvPr/>
        </p:nvPicPr>
        <p:blipFill>
          <a:blip r:embed="rId2"/>
          <a:srcRect l="11707" t="9332" r="105"/>
          <a:stretch>
            <a:fillRect/>
          </a:stretch>
        </p:blipFill>
        <p:spPr>
          <a:xfrm>
            <a:off x="0" y="1"/>
            <a:ext cx="1094960" cy="2066544"/>
          </a:xfrm>
          <a:prstGeom prst="rect">
            <a:avLst/>
          </a:prstGeom>
        </p:spPr>
      </p:pic>
      <p:sp>
        <p:nvSpPr>
          <p:cNvPr id="2" name="Segnaposto numero diapositiva 1">
            <a:extLst>
              <a:ext uri="{FF2B5EF4-FFF2-40B4-BE49-F238E27FC236}">
                <a16:creationId xmlns:a16="http://schemas.microsoft.com/office/drawing/2014/main" id="{444A7421-E91D-4B3E-B109-BA52F77683B5}"/>
              </a:ext>
            </a:extLst>
          </p:cNvPr>
          <p:cNvSpPr>
            <a:spLocks noGrp="1"/>
          </p:cNvSpPr>
          <p:nvPr>
            <p:ph type="sldNum" sz="quarter" idx="12"/>
          </p:nvPr>
        </p:nvSpPr>
        <p:spPr>
          <a:xfrm>
            <a:off x="188534" y="6512928"/>
            <a:ext cx="11787433" cy="365125"/>
          </a:xfrm>
        </p:spPr>
        <p:txBody>
          <a:bodyPr/>
          <a:lstStyle/>
          <a:p>
            <a:fld id="{6BDFA317-9872-4CA4-AEEB-C3769785CDD8}" type="slidenum">
              <a:rPr lang="en-GB" smtClean="0"/>
              <a:t>8</a:t>
            </a:fld>
            <a:endParaRPr lang="en-GB" dirty="0"/>
          </a:p>
        </p:txBody>
      </p:sp>
      <p:sp>
        <p:nvSpPr>
          <p:cNvPr id="4" name="Segnaposto numero diapositiva 1">
            <a:extLst>
              <a:ext uri="{FF2B5EF4-FFF2-40B4-BE49-F238E27FC236}">
                <a16:creationId xmlns:a16="http://schemas.microsoft.com/office/drawing/2014/main" id="{A476DF0D-9B82-23A6-C226-4FFCACF80717}"/>
              </a:ext>
            </a:extLst>
          </p:cNvPr>
          <p:cNvSpPr txBox="1">
            <a:spLocks/>
          </p:cNvSpPr>
          <p:nvPr/>
        </p:nvSpPr>
        <p:spPr>
          <a:xfrm>
            <a:off x="9144" y="6512928"/>
            <a:ext cx="1591559"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Samuele Tomassacci</a:t>
            </a:r>
          </a:p>
        </p:txBody>
      </p:sp>
      <p:sp>
        <p:nvSpPr>
          <p:cNvPr id="5" name="Segnaposto numero diapositiva 1">
            <a:extLst>
              <a:ext uri="{FF2B5EF4-FFF2-40B4-BE49-F238E27FC236}">
                <a16:creationId xmlns:a16="http://schemas.microsoft.com/office/drawing/2014/main" id="{28302E76-F2B9-D457-F814-76F354D50AE9}"/>
              </a:ext>
            </a:extLst>
          </p:cNvPr>
          <p:cNvSpPr txBox="1">
            <a:spLocks/>
          </p:cNvSpPr>
          <p:nvPr/>
        </p:nvSpPr>
        <p:spPr>
          <a:xfrm>
            <a:off x="5443586" y="6512928"/>
            <a:ext cx="1304828"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Neural Networks</a:t>
            </a:r>
          </a:p>
        </p:txBody>
      </p:sp>
      <p:pic>
        <p:nvPicPr>
          <p:cNvPr id="9" name="Picture 10">
            <a:extLst>
              <a:ext uri="{FF2B5EF4-FFF2-40B4-BE49-F238E27FC236}">
                <a16:creationId xmlns:a16="http://schemas.microsoft.com/office/drawing/2014/main" id="{8F14BA2F-3971-93D0-2980-42AEEC2E71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0034" y="98818"/>
            <a:ext cx="1490673" cy="448444"/>
          </a:xfrm>
          <a:prstGeom prst="rect">
            <a:avLst/>
          </a:prstGeom>
          <a:noFill/>
          <a:extLst>
            <a:ext uri="{909E8E84-426E-40DD-AFC4-6F175D3DCCD1}">
              <a14:hiddenFill xmlns:a14="http://schemas.microsoft.com/office/drawing/2010/main">
                <a:solidFill>
                  <a:srgbClr val="FFFFFF"/>
                </a:solidFill>
              </a14:hiddenFill>
            </a:ext>
          </a:extLst>
        </p:spPr>
      </p:pic>
      <p:sp>
        <p:nvSpPr>
          <p:cNvPr id="10" name="Titolo 1">
            <a:extLst>
              <a:ext uri="{FF2B5EF4-FFF2-40B4-BE49-F238E27FC236}">
                <a16:creationId xmlns:a16="http://schemas.microsoft.com/office/drawing/2014/main" id="{7FD1C1E5-B8AB-4874-7F8E-09CEE0F5A7FB}"/>
              </a:ext>
            </a:extLst>
          </p:cNvPr>
          <p:cNvSpPr>
            <a:spLocks noGrp="1"/>
          </p:cNvSpPr>
          <p:nvPr>
            <p:ph type="ctrTitle"/>
          </p:nvPr>
        </p:nvSpPr>
        <p:spPr>
          <a:xfrm>
            <a:off x="3141432" y="-18569"/>
            <a:ext cx="5604334" cy="683218"/>
          </a:xfrm>
        </p:spPr>
        <p:txBody>
          <a:bodyPr rtlCol="0" anchor="t">
            <a:noAutofit/>
          </a:bodyPr>
          <a:lstStyle/>
          <a:p>
            <a:r>
              <a:rPr lang="en-US" sz="4400" b="1" dirty="0">
                <a:latin typeface="Bookman Old Style" panose="02050604050505020204" pitchFamily="18" charset="0"/>
              </a:rPr>
              <a:t>Experiments</a:t>
            </a:r>
            <a:br>
              <a:rPr lang="en-US" sz="4400" b="1" dirty="0">
                <a:solidFill>
                  <a:schemeClr val="tx1"/>
                </a:solidFill>
                <a:latin typeface="Bookman Old Style" panose="02050604050505020204" pitchFamily="18" charset="0"/>
              </a:rPr>
            </a:br>
            <a:br>
              <a:rPr lang="en-US" sz="4400" b="1" dirty="0">
                <a:solidFill>
                  <a:schemeClr val="tx1"/>
                </a:solidFill>
                <a:latin typeface="Bookman Old Style" panose="02050604050505020204" pitchFamily="18" charset="0"/>
              </a:rPr>
            </a:br>
            <a:endParaRPr lang="it" sz="4400" b="1" dirty="0">
              <a:solidFill>
                <a:schemeClr val="tx1"/>
              </a:solidFill>
              <a:latin typeface="Bookman Old Style" panose="02050604050505020204" pitchFamily="18" charset="0"/>
            </a:endParaRPr>
          </a:p>
        </p:txBody>
      </p:sp>
      <p:cxnSp>
        <p:nvCxnSpPr>
          <p:cNvPr id="12" name="Connettore diritto 11">
            <a:extLst>
              <a:ext uri="{FF2B5EF4-FFF2-40B4-BE49-F238E27FC236}">
                <a16:creationId xmlns:a16="http://schemas.microsoft.com/office/drawing/2014/main" id="{5886C011-E3B4-3D76-2D60-42491C3989E6}"/>
              </a:ext>
            </a:extLst>
          </p:cNvPr>
          <p:cNvCxnSpPr>
            <a:cxnSpLocks/>
          </p:cNvCxnSpPr>
          <p:nvPr/>
        </p:nvCxnSpPr>
        <p:spPr>
          <a:xfrm>
            <a:off x="4306824" y="664649"/>
            <a:ext cx="3364992"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22" name="AutoShape 2" descr="5 Best Free Google Slides Space Theme - MasterBundles">
            <a:extLst>
              <a:ext uri="{FF2B5EF4-FFF2-40B4-BE49-F238E27FC236}">
                <a16:creationId xmlns:a16="http://schemas.microsoft.com/office/drawing/2014/main" id="{1B61F242-D2BB-62BA-8AF4-C3695A3272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cxnSp>
        <p:nvCxnSpPr>
          <p:cNvPr id="3" name="Connettore diritto 2">
            <a:extLst>
              <a:ext uri="{FF2B5EF4-FFF2-40B4-BE49-F238E27FC236}">
                <a16:creationId xmlns:a16="http://schemas.microsoft.com/office/drawing/2014/main" id="{510E510C-EDBA-B553-FF58-A5A52AC55855}"/>
              </a:ext>
            </a:extLst>
          </p:cNvPr>
          <p:cNvCxnSpPr>
            <a:cxnSpLocks/>
          </p:cNvCxnSpPr>
          <p:nvPr/>
        </p:nvCxnSpPr>
        <p:spPr>
          <a:xfrm>
            <a:off x="0" y="6512928"/>
            <a:ext cx="12192000"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7" name="CasellaDiTesto 6">
            <a:extLst>
              <a:ext uri="{FF2B5EF4-FFF2-40B4-BE49-F238E27FC236}">
                <a16:creationId xmlns:a16="http://schemas.microsoft.com/office/drawing/2014/main" id="{E322D01C-1CE8-41F5-5D1A-967D41256943}"/>
              </a:ext>
            </a:extLst>
          </p:cNvPr>
          <p:cNvSpPr txBox="1"/>
          <p:nvPr/>
        </p:nvSpPr>
        <p:spPr>
          <a:xfrm>
            <a:off x="9145" y="3882033"/>
            <a:ext cx="3408116" cy="1015663"/>
          </a:xfrm>
          <a:prstGeom prst="rect">
            <a:avLst/>
          </a:prstGeom>
          <a:noFill/>
        </p:spPr>
        <p:txBody>
          <a:bodyPr wrap="square" rtlCol="0">
            <a:spAutoFit/>
          </a:bodyPr>
          <a:lstStyle/>
          <a:p>
            <a:pPr algn="ctr"/>
            <a:r>
              <a:rPr lang="en-GB" sz="2000" b="1" dirty="0">
                <a:solidFill>
                  <a:prstClr val="black"/>
                </a:solidFill>
                <a:latin typeface="Univers Condensed Light"/>
              </a:rPr>
              <a:t>One run </a:t>
            </a:r>
            <a:r>
              <a:rPr lang="en-GB" sz="2000" dirty="0">
                <a:solidFill>
                  <a:prstClr val="black"/>
                </a:solidFill>
                <a:latin typeface="Univers Condensed Light"/>
              </a:rPr>
              <a:t>consists of training the model using a randomly generated training dataset and then testing it</a:t>
            </a:r>
          </a:p>
        </p:txBody>
      </p:sp>
      <p:sp>
        <p:nvSpPr>
          <p:cNvPr id="8" name="CasellaDiTesto 7">
            <a:extLst>
              <a:ext uri="{FF2B5EF4-FFF2-40B4-BE49-F238E27FC236}">
                <a16:creationId xmlns:a16="http://schemas.microsoft.com/office/drawing/2014/main" id="{D0D5D0A8-7121-4446-8AA0-0FC4CB779555}"/>
              </a:ext>
            </a:extLst>
          </p:cNvPr>
          <p:cNvSpPr txBox="1"/>
          <p:nvPr/>
        </p:nvSpPr>
        <p:spPr>
          <a:xfrm>
            <a:off x="8293609" y="3815100"/>
            <a:ext cx="3898392" cy="1323439"/>
          </a:xfrm>
          <a:prstGeom prst="rect">
            <a:avLst/>
          </a:prstGeom>
          <a:noFill/>
        </p:spPr>
        <p:txBody>
          <a:bodyPr wrap="square" rtlCol="0">
            <a:spAutoFit/>
          </a:bodyPr>
          <a:lstStyle/>
          <a:p>
            <a:pPr algn="ctr"/>
            <a:r>
              <a:rPr lang="en-US" sz="2000" dirty="0">
                <a:solidFill>
                  <a:prstClr val="black"/>
                </a:solidFill>
                <a:latin typeface="Univers Condensed Light"/>
              </a:rPr>
              <a:t>For this reason, </a:t>
            </a:r>
            <a:r>
              <a:rPr lang="en-US" sz="2000" b="1" dirty="0">
                <a:solidFill>
                  <a:prstClr val="black"/>
                </a:solidFill>
                <a:latin typeface="Univers Condensed Light"/>
              </a:rPr>
              <a:t>ten consecutive runs </a:t>
            </a:r>
            <a:r>
              <a:rPr lang="en-US" sz="2000" dirty="0">
                <a:solidFill>
                  <a:prstClr val="black"/>
                </a:solidFill>
                <a:latin typeface="Univers Condensed Light"/>
              </a:rPr>
              <a:t>are performed, and the average and standard deviation of the metrics across all runs are computed.</a:t>
            </a:r>
            <a:endParaRPr lang="en-GB" sz="2000" dirty="0">
              <a:solidFill>
                <a:prstClr val="black"/>
              </a:solidFill>
              <a:latin typeface="Univers Condensed Light"/>
            </a:endParaRPr>
          </a:p>
        </p:txBody>
      </p:sp>
      <p:sp>
        <p:nvSpPr>
          <p:cNvPr id="11" name="CasellaDiTesto 10">
            <a:extLst>
              <a:ext uri="{FF2B5EF4-FFF2-40B4-BE49-F238E27FC236}">
                <a16:creationId xmlns:a16="http://schemas.microsoft.com/office/drawing/2014/main" id="{74069B43-8121-3C2C-4759-501D8195F13E}"/>
              </a:ext>
            </a:extLst>
          </p:cNvPr>
          <p:cNvSpPr txBox="1"/>
          <p:nvPr/>
        </p:nvSpPr>
        <p:spPr>
          <a:xfrm>
            <a:off x="1927125" y="1944798"/>
            <a:ext cx="3828529" cy="523220"/>
          </a:xfrm>
          <a:prstGeom prst="rect">
            <a:avLst/>
          </a:prstGeom>
          <a:noFill/>
        </p:spPr>
        <p:txBody>
          <a:bodyPr wrap="square" rtlCol="0">
            <a:spAutoFit/>
          </a:bodyPr>
          <a:lstStyle/>
          <a:p>
            <a:pPr algn="ctr"/>
            <a:r>
              <a:rPr lang="en-GB" sz="2800" dirty="0">
                <a:solidFill>
                  <a:prstClr val="black"/>
                </a:solidFill>
                <a:latin typeface="Univers Condensed Light"/>
              </a:rPr>
              <a:t>Metrics used for evaluation:</a:t>
            </a:r>
          </a:p>
        </p:txBody>
      </p:sp>
      <p:sp>
        <p:nvSpPr>
          <p:cNvPr id="13" name="CasellaDiTesto 12">
            <a:extLst>
              <a:ext uri="{FF2B5EF4-FFF2-40B4-BE49-F238E27FC236}">
                <a16:creationId xmlns:a16="http://schemas.microsoft.com/office/drawing/2014/main" id="{C6105356-C50F-97E9-A69F-19C615935C00}"/>
              </a:ext>
            </a:extLst>
          </p:cNvPr>
          <p:cNvSpPr txBox="1"/>
          <p:nvPr/>
        </p:nvSpPr>
        <p:spPr>
          <a:xfrm>
            <a:off x="6701472" y="1274456"/>
            <a:ext cx="2676905" cy="1938992"/>
          </a:xfrm>
          <a:prstGeom prst="rect">
            <a:avLst/>
          </a:prstGeom>
          <a:noFill/>
        </p:spPr>
        <p:txBody>
          <a:bodyPr wrap="square" rtlCol="0">
            <a:spAutoFit/>
          </a:bodyPr>
          <a:lstStyle/>
          <a:p>
            <a:pPr algn="ctr"/>
            <a:r>
              <a:rPr lang="en-GB" sz="2400" dirty="0">
                <a:solidFill>
                  <a:prstClr val="black"/>
                </a:solidFill>
                <a:latin typeface="Univers Condensed Light"/>
              </a:rPr>
              <a:t>Overall Accuracy</a:t>
            </a:r>
          </a:p>
          <a:p>
            <a:pPr algn="ctr"/>
            <a:endParaRPr lang="en-GB" sz="2400" dirty="0">
              <a:solidFill>
                <a:prstClr val="black"/>
              </a:solidFill>
              <a:latin typeface="Univers Condensed Light"/>
            </a:endParaRPr>
          </a:p>
          <a:p>
            <a:pPr algn="ctr"/>
            <a:r>
              <a:rPr lang="en-GB" sz="2400" dirty="0">
                <a:solidFill>
                  <a:prstClr val="black"/>
                </a:solidFill>
                <a:latin typeface="Univers Condensed Light"/>
              </a:rPr>
              <a:t>Average Accuracy</a:t>
            </a:r>
          </a:p>
          <a:p>
            <a:pPr algn="ctr"/>
            <a:endParaRPr lang="en-GB" sz="2400" dirty="0">
              <a:solidFill>
                <a:prstClr val="black"/>
              </a:solidFill>
              <a:latin typeface="Univers Condensed Light"/>
            </a:endParaRPr>
          </a:p>
          <a:p>
            <a:pPr algn="ctr"/>
            <a:r>
              <a:rPr lang="en-GB" sz="2400" dirty="0">
                <a:solidFill>
                  <a:prstClr val="black"/>
                </a:solidFill>
                <a:latin typeface="Univers Condensed Light"/>
              </a:rPr>
              <a:t>Kappa coefficient</a:t>
            </a:r>
          </a:p>
        </p:txBody>
      </p:sp>
      <p:sp>
        <p:nvSpPr>
          <p:cNvPr id="15" name="CasellaDiTesto 14">
            <a:extLst>
              <a:ext uri="{FF2B5EF4-FFF2-40B4-BE49-F238E27FC236}">
                <a16:creationId xmlns:a16="http://schemas.microsoft.com/office/drawing/2014/main" id="{06926CFD-7F5F-36A0-13D4-D8BE0CD30699}"/>
              </a:ext>
            </a:extLst>
          </p:cNvPr>
          <p:cNvSpPr txBox="1"/>
          <p:nvPr/>
        </p:nvSpPr>
        <p:spPr>
          <a:xfrm>
            <a:off x="4078925" y="3815100"/>
            <a:ext cx="3630168" cy="1323439"/>
          </a:xfrm>
          <a:prstGeom prst="rect">
            <a:avLst/>
          </a:prstGeom>
          <a:noFill/>
        </p:spPr>
        <p:txBody>
          <a:bodyPr wrap="square">
            <a:spAutoFit/>
          </a:bodyPr>
          <a:lstStyle/>
          <a:p>
            <a:pPr algn="ctr"/>
            <a:r>
              <a:rPr lang="en-GB" sz="2000" dirty="0">
                <a:solidFill>
                  <a:prstClr val="black"/>
                </a:solidFill>
                <a:latin typeface="Univers Condensed Light"/>
              </a:rPr>
              <a:t>Given the limited training samples, only one run would lead to </a:t>
            </a:r>
            <a:r>
              <a:rPr lang="en-GB" sz="2000" b="1" dirty="0">
                <a:solidFill>
                  <a:prstClr val="black"/>
                </a:solidFill>
                <a:latin typeface="Univers Condensed Light"/>
              </a:rPr>
              <a:t>unstable results</a:t>
            </a:r>
            <a:r>
              <a:rPr lang="en-GB" sz="2000" dirty="0">
                <a:solidFill>
                  <a:prstClr val="black"/>
                </a:solidFill>
                <a:latin typeface="Univers Condensed Light"/>
              </a:rPr>
              <a:t>, depending on training dataset initialization </a:t>
            </a:r>
            <a:endParaRPr lang="en-GB" sz="2000" dirty="0"/>
          </a:p>
        </p:txBody>
      </p:sp>
      <p:sp>
        <p:nvSpPr>
          <p:cNvPr id="16" name="Freccia a destra 15">
            <a:extLst>
              <a:ext uri="{FF2B5EF4-FFF2-40B4-BE49-F238E27FC236}">
                <a16:creationId xmlns:a16="http://schemas.microsoft.com/office/drawing/2014/main" id="{7D469E90-8E46-A9B6-7D58-878D796289B6}"/>
              </a:ext>
            </a:extLst>
          </p:cNvPr>
          <p:cNvSpPr/>
          <p:nvPr/>
        </p:nvSpPr>
        <p:spPr>
          <a:xfrm>
            <a:off x="3466852" y="4229962"/>
            <a:ext cx="562483" cy="304770"/>
          </a:xfrm>
          <a:prstGeom prst="rightArrow">
            <a:avLst/>
          </a:prstGeom>
          <a:solidFill>
            <a:srgbClr val="822433"/>
          </a:solidFill>
          <a:ln>
            <a:noFill/>
          </a:ln>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dirty="0"/>
          </a:p>
        </p:txBody>
      </p:sp>
      <p:sp>
        <p:nvSpPr>
          <p:cNvPr id="17" name="Freccia a destra 16">
            <a:extLst>
              <a:ext uri="{FF2B5EF4-FFF2-40B4-BE49-F238E27FC236}">
                <a16:creationId xmlns:a16="http://schemas.microsoft.com/office/drawing/2014/main" id="{F2900369-E5B8-029D-FDBB-787104CCF056}"/>
              </a:ext>
            </a:extLst>
          </p:cNvPr>
          <p:cNvSpPr/>
          <p:nvPr/>
        </p:nvSpPr>
        <p:spPr>
          <a:xfrm>
            <a:off x="7758684" y="4229962"/>
            <a:ext cx="562483" cy="304770"/>
          </a:xfrm>
          <a:prstGeom prst="rightArrow">
            <a:avLst/>
          </a:prstGeom>
          <a:solidFill>
            <a:srgbClr val="822433"/>
          </a:solidFill>
          <a:ln>
            <a:noFill/>
          </a:ln>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dirty="0"/>
          </a:p>
        </p:txBody>
      </p:sp>
      <p:cxnSp>
        <p:nvCxnSpPr>
          <p:cNvPr id="18" name="Connettore 2 17">
            <a:extLst>
              <a:ext uri="{FF2B5EF4-FFF2-40B4-BE49-F238E27FC236}">
                <a16:creationId xmlns:a16="http://schemas.microsoft.com/office/drawing/2014/main" id="{90065660-D0D0-0B71-DB3E-3B70415D40CF}"/>
              </a:ext>
            </a:extLst>
          </p:cNvPr>
          <p:cNvCxnSpPr>
            <a:cxnSpLocks/>
          </p:cNvCxnSpPr>
          <p:nvPr/>
        </p:nvCxnSpPr>
        <p:spPr>
          <a:xfrm flipV="1">
            <a:off x="5755654" y="1597805"/>
            <a:ext cx="1230362" cy="590673"/>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21" name="Connettore 2 20">
            <a:extLst>
              <a:ext uri="{FF2B5EF4-FFF2-40B4-BE49-F238E27FC236}">
                <a16:creationId xmlns:a16="http://schemas.microsoft.com/office/drawing/2014/main" id="{EEB11682-BC0A-872F-A3E4-FBE1C7D3442C}"/>
              </a:ext>
            </a:extLst>
          </p:cNvPr>
          <p:cNvCxnSpPr>
            <a:cxnSpLocks/>
          </p:cNvCxnSpPr>
          <p:nvPr/>
        </p:nvCxnSpPr>
        <p:spPr>
          <a:xfrm>
            <a:off x="5784610" y="2359719"/>
            <a:ext cx="1137398" cy="510699"/>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25" name="Connettore 2 24">
            <a:extLst>
              <a:ext uri="{FF2B5EF4-FFF2-40B4-BE49-F238E27FC236}">
                <a16:creationId xmlns:a16="http://schemas.microsoft.com/office/drawing/2014/main" id="{FCF1CD70-65A6-F27B-E62E-1FC870E8216A}"/>
              </a:ext>
            </a:extLst>
          </p:cNvPr>
          <p:cNvCxnSpPr>
            <a:cxnSpLocks/>
          </p:cNvCxnSpPr>
          <p:nvPr/>
        </p:nvCxnSpPr>
        <p:spPr>
          <a:xfrm flipV="1">
            <a:off x="5784610" y="2243952"/>
            <a:ext cx="1137398" cy="16660"/>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5571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F3A05-1166-EDAA-C036-56E2D44E8341}"/>
            </a:ext>
          </a:extLst>
        </p:cNvPr>
        <p:cNvGrpSpPr/>
        <p:nvPr/>
      </p:nvGrpSpPr>
      <p:grpSpPr>
        <a:xfrm>
          <a:off x="0" y="0"/>
          <a:ext cx="0" cy="0"/>
          <a:chOff x="0" y="0"/>
          <a:chExt cx="0" cy="0"/>
        </a:xfrm>
      </p:grpSpPr>
      <p:pic>
        <p:nvPicPr>
          <p:cNvPr id="2053" name="Immagine 2052" descr="Immagine che contiene design, busta, statico&#10;&#10;Il contenuto generato dall'IA potrebbe non essere corretto.">
            <a:extLst>
              <a:ext uri="{FF2B5EF4-FFF2-40B4-BE49-F238E27FC236}">
                <a16:creationId xmlns:a16="http://schemas.microsoft.com/office/drawing/2014/main" id="{D36D643C-38E2-AE1A-C602-E2C735DDB090}"/>
              </a:ext>
            </a:extLst>
          </p:cNvPr>
          <p:cNvPicPr>
            <a:picLocks noChangeAspect="1"/>
          </p:cNvPicPr>
          <p:nvPr/>
        </p:nvPicPr>
        <p:blipFill>
          <a:blip r:embed="rId2"/>
          <a:srcRect l="11707" t="9332" r="105"/>
          <a:stretch>
            <a:fillRect/>
          </a:stretch>
        </p:blipFill>
        <p:spPr>
          <a:xfrm>
            <a:off x="0" y="1"/>
            <a:ext cx="1094960" cy="2066544"/>
          </a:xfrm>
          <a:prstGeom prst="rect">
            <a:avLst/>
          </a:prstGeom>
        </p:spPr>
      </p:pic>
      <p:sp>
        <p:nvSpPr>
          <p:cNvPr id="2" name="Segnaposto numero diapositiva 1">
            <a:extLst>
              <a:ext uri="{FF2B5EF4-FFF2-40B4-BE49-F238E27FC236}">
                <a16:creationId xmlns:a16="http://schemas.microsoft.com/office/drawing/2014/main" id="{A5AA2CF3-66D7-5FDB-EB8D-E287FEDE664B}"/>
              </a:ext>
            </a:extLst>
          </p:cNvPr>
          <p:cNvSpPr>
            <a:spLocks noGrp="1"/>
          </p:cNvSpPr>
          <p:nvPr>
            <p:ph type="sldNum" sz="quarter" idx="12"/>
          </p:nvPr>
        </p:nvSpPr>
        <p:spPr>
          <a:xfrm>
            <a:off x="188534" y="6512928"/>
            <a:ext cx="11787433" cy="365125"/>
          </a:xfrm>
        </p:spPr>
        <p:txBody>
          <a:bodyPr/>
          <a:lstStyle/>
          <a:p>
            <a:fld id="{6BDFA317-9872-4CA4-AEEB-C3769785CDD8}" type="slidenum">
              <a:rPr lang="en-GB" smtClean="0"/>
              <a:t>9</a:t>
            </a:fld>
            <a:endParaRPr lang="en-GB" dirty="0"/>
          </a:p>
        </p:txBody>
      </p:sp>
      <p:sp>
        <p:nvSpPr>
          <p:cNvPr id="4" name="Segnaposto numero diapositiva 1">
            <a:extLst>
              <a:ext uri="{FF2B5EF4-FFF2-40B4-BE49-F238E27FC236}">
                <a16:creationId xmlns:a16="http://schemas.microsoft.com/office/drawing/2014/main" id="{09121F72-ABB8-3F0F-84C8-755E896E27E2}"/>
              </a:ext>
            </a:extLst>
          </p:cNvPr>
          <p:cNvSpPr txBox="1">
            <a:spLocks/>
          </p:cNvSpPr>
          <p:nvPr/>
        </p:nvSpPr>
        <p:spPr>
          <a:xfrm>
            <a:off x="9144" y="6512928"/>
            <a:ext cx="1591559"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Samuele Tomassacci</a:t>
            </a:r>
          </a:p>
        </p:txBody>
      </p:sp>
      <p:sp>
        <p:nvSpPr>
          <p:cNvPr id="5" name="Segnaposto numero diapositiva 1">
            <a:extLst>
              <a:ext uri="{FF2B5EF4-FFF2-40B4-BE49-F238E27FC236}">
                <a16:creationId xmlns:a16="http://schemas.microsoft.com/office/drawing/2014/main" id="{13DCD45F-D9D5-6957-DA32-107918833FC5}"/>
              </a:ext>
            </a:extLst>
          </p:cNvPr>
          <p:cNvSpPr txBox="1">
            <a:spLocks/>
          </p:cNvSpPr>
          <p:nvPr/>
        </p:nvSpPr>
        <p:spPr>
          <a:xfrm>
            <a:off x="5443586" y="6512928"/>
            <a:ext cx="1304828"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Neural Networks</a:t>
            </a:r>
          </a:p>
        </p:txBody>
      </p:sp>
      <p:pic>
        <p:nvPicPr>
          <p:cNvPr id="9" name="Picture 10">
            <a:extLst>
              <a:ext uri="{FF2B5EF4-FFF2-40B4-BE49-F238E27FC236}">
                <a16:creationId xmlns:a16="http://schemas.microsoft.com/office/drawing/2014/main" id="{0D892A4B-EFDD-5074-8891-9A336015A8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0034" y="98818"/>
            <a:ext cx="1490673" cy="448444"/>
          </a:xfrm>
          <a:prstGeom prst="rect">
            <a:avLst/>
          </a:prstGeom>
          <a:noFill/>
          <a:extLst>
            <a:ext uri="{909E8E84-426E-40DD-AFC4-6F175D3DCCD1}">
              <a14:hiddenFill xmlns:a14="http://schemas.microsoft.com/office/drawing/2010/main">
                <a:solidFill>
                  <a:srgbClr val="FFFFFF"/>
                </a:solidFill>
              </a14:hiddenFill>
            </a:ext>
          </a:extLst>
        </p:spPr>
      </p:pic>
      <p:sp>
        <p:nvSpPr>
          <p:cNvPr id="10" name="Titolo 1">
            <a:extLst>
              <a:ext uri="{FF2B5EF4-FFF2-40B4-BE49-F238E27FC236}">
                <a16:creationId xmlns:a16="http://schemas.microsoft.com/office/drawing/2014/main" id="{DEF25CBB-D393-C51E-6D68-0E4870B04DFB}"/>
              </a:ext>
            </a:extLst>
          </p:cNvPr>
          <p:cNvSpPr>
            <a:spLocks noGrp="1"/>
          </p:cNvSpPr>
          <p:nvPr>
            <p:ph type="ctrTitle"/>
          </p:nvPr>
        </p:nvSpPr>
        <p:spPr>
          <a:xfrm>
            <a:off x="3141432" y="-18569"/>
            <a:ext cx="5604334" cy="683218"/>
          </a:xfrm>
        </p:spPr>
        <p:txBody>
          <a:bodyPr rtlCol="0" anchor="t">
            <a:noAutofit/>
          </a:bodyPr>
          <a:lstStyle/>
          <a:p>
            <a:r>
              <a:rPr lang="en-US" sz="4400" b="1" dirty="0">
                <a:latin typeface="Bookman Old Style" panose="02050604050505020204" pitchFamily="18" charset="0"/>
              </a:rPr>
              <a:t>Results</a:t>
            </a:r>
            <a:br>
              <a:rPr lang="en-US" sz="4400" b="1" dirty="0">
                <a:solidFill>
                  <a:schemeClr val="tx1"/>
                </a:solidFill>
                <a:latin typeface="Bookman Old Style" panose="02050604050505020204" pitchFamily="18" charset="0"/>
              </a:rPr>
            </a:br>
            <a:br>
              <a:rPr lang="en-US" sz="4400" b="1" dirty="0">
                <a:solidFill>
                  <a:schemeClr val="tx1"/>
                </a:solidFill>
                <a:latin typeface="Bookman Old Style" panose="02050604050505020204" pitchFamily="18" charset="0"/>
              </a:rPr>
            </a:br>
            <a:endParaRPr lang="it" sz="4400" b="1" dirty="0">
              <a:solidFill>
                <a:schemeClr val="tx1"/>
              </a:solidFill>
              <a:latin typeface="Bookman Old Style" panose="02050604050505020204" pitchFamily="18" charset="0"/>
            </a:endParaRPr>
          </a:p>
        </p:txBody>
      </p:sp>
      <p:cxnSp>
        <p:nvCxnSpPr>
          <p:cNvPr id="12" name="Connettore diritto 11">
            <a:extLst>
              <a:ext uri="{FF2B5EF4-FFF2-40B4-BE49-F238E27FC236}">
                <a16:creationId xmlns:a16="http://schemas.microsoft.com/office/drawing/2014/main" id="{2341B276-7E04-CDEF-69D8-F4B4E2BDE8CC}"/>
              </a:ext>
            </a:extLst>
          </p:cNvPr>
          <p:cNvCxnSpPr/>
          <p:nvPr/>
        </p:nvCxnSpPr>
        <p:spPr>
          <a:xfrm>
            <a:off x="4739148" y="664649"/>
            <a:ext cx="2408903"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22" name="AutoShape 2" descr="5 Best Free Google Slides Space Theme - MasterBundles">
            <a:extLst>
              <a:ext uri="{FF2B5EF4-FFF2-40B4-BE49-F238E27FC236}">
                <a16:creationId xmlns:a16="http://schemas.microsoft.com/office/drawing/2014/main" id="{651E2C43-5D59-311A-8A86-207BFAA87FA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cxnSp>
        <p:nvCxnSpPr>
          <p:cNvPr id="3" name="Connettore diritto 2">
            <a:extLst>
              <a:ext uri="{FF2B5EF4-FFF2-40B4-BE49-F238E27FC236}">
                <a16:creationId xmlns:a16="http://schemas.microsoft.com/office/drawing/2014/main" id="{ABEF7102-75F9-E70D-C004-983D0C31C893}"/>
              </a:ext>
            </a:extLst>
          </p:cNvPr>
          <p:cNvCxnSpPr>
            <a:cxnSpLocks/>
          </p:cNvCxnSpPr>
          <p:nvPr/>
        </p:nvCxnSpPr>
        <p:spPr>
          <a:xfrm>
            <a:off x="0" y="6512928"/>
            <a:ext cx="12192000"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16" name="CasellaDiTesto 15">
            <a:extLst>
              <a:ext uri="{FF2B5EF4-FFF2-40B4-BE49-F238E27FC236}">
                <a16:creationId xmlns:a16="http://schemas.microsoft.com/office/drawing/2014/main" id="{7F2030AE-92B5-7B32-DF0D-5F1B9150F3CC}"/>
              </a:ext>
            </a:extLst>
          </p:cNvPr>
          <p:cNvSpPr txBox="1"/>
          <p:nvPr/>
        </p:nvSpPr>
        <p:spPr>
          <a:xfrm>
            <a:off x="2466868" y="869057"/>
            <a:ext cx="4988419" cy="400110"/>
          </a:xfrm>
          <a:prstGeom prst="rect">
            <a:avLst/>
          </a:prstGeom>
          <a:noFill/>
        </p:spPr>
        <p:txBody>
          <a:bodyPr wrap="square" rtlCol="0">
            <a:spAutoFit/>
          </a:bodyPr>
          <a:lstStyle/>
          <a:p>
            <a:pPr algn="ctr"/>
            <a:r>
              <a:rPr lang="en-GB" sz="2000" b="1" dirty="0">
                <a:solidFill>
                  <a:prstClr val="black"/>
                </a:solidFill>
                <a:latin typeface="Univers Condensed Light"/>
              </a:rPr>
              <a:t>Final results over 10 runs (mean ± std)</a:t>
            </a:r>
          </a:p>
        </p:txBody>
      </p:sp>
      <p:pic>
        <p:nvPicPr>
          <p:cNvPr id="26" name="Immagine 25" descr="Immagine che contiene testo, schermata, Carattere, linea&#10;&#10;Il contenuto generato dall'IA potrebbe non essere corretto.">
            <a:extLst>
              <a:ext uri="{FF2B5EF4-FFF2-40B4-BE49-F238E27FC236}">
                <a16:creationId xmlns:a16="http://schemas.microsoft.com/office/drawing/2014/main" id="{911DA6A6-A8E5-B6C4-7098-57EC9CF89FDD}"/>
              </a:ext>
            </a:extLst>
          </p:cNvPr>
          <p:cNvPicPr>
            <a:picLocks noChangeAspect="1"/>
          </p:cNvPicPr>
          <p:nvPr/>
        </p:nvPicPr>
        <p:blipFill>
          <a:blip r:embed="rId4"/>
          <a:stretch>
            <a:fillRect/>
          </a:stretch>
        </p:blipFill>
        <p:spPr>
          <a:xfrm>
            <a:off x="1636890" y="1251534"/>
            <a:ext cx="6648376" cy="1374296"/>
          </a:xfrm>
          <a:prstGeom prst="rect">
            <a:avLst/>
          </a:prstGeom>
        </p:spPr>
      </p:pic>
      <p:pic>
        <p:nvPicPr>
          <p:cNvPr id="30" name="Immagine 29" descr="Immagine che contiene testo, schermata, Carattere, numero&#10;&#10;Il contenuto generato dall'IA potrebbe non essere corretto.">
            <a:extLst>
              <a:ext uri="{FF2B5EF4-FFF2-40B4-BE49-F238E27FC236}">
                <a16:creationId xmlns:a16="http://schemas.microsoft.com/office/drawing/2014/main" id="{E5413960-2F89-C4B4-C65D-B8BEDBB2C12C}"/>
              </a:ext>
            </a:extLst>
          </p:cNvPr>
          <p:cNvPicPr>
            <a:picLocks noChangeAspect="1"/>
          </p:cNvPicPr>
          <p:nvPr/>
        </p:nvPicPr>
        <p:blipFill>
          <a:blip r:embed="rId5"/>
          <a:stretch>
            <a:fillRect/>
          </a:stretch>
        </p:blipFill>
        <p:spPr>
          <a:xfrm>
            <a:off x="8601225" y="627959"/>
            <a:ext cx="2585127" cy="2953438"/>
          </a:xfrm>
          <a:prstGeom prst="rect">
            <a:avLst/>
          </a:prstGeom>
        </p:spPr>
      </p:pic>
      <p:sp>
        <p:nvSpPr>
          <p:cNvPr id="36" name="Rettangolo 35">
            <a:extLst>
              <a:ext uri="{FF2B5EF4-FFF2-40B4-BE49-F238E27FC236}">
                <a16:creationId xmlns:a16="http://schemas.microsoft.com/office/drawing/2014/main" id="{1F2D1579-038F-3435-EC1F-8719816E5EF9}"/>
              </a:ext>
            </a:extLst>
          </p:cNvPr>
          <p:cNvSpPr/>
          <p:nvPr/>
        </p:nvSpPr>
        <p:spPr>
          <a:xfrm>
            <a:off x="11439714" y="1243641"/>
            <a:ext cx="412795" cy="2040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CasellaDiTesto 5">
            <a:extLst>
              <a:ext uri="{FF2B5EF4-FFF2-40B4-BE49-F238E27FC236}">
                <a16:creationId xmlns:a16="http://schemas.microsoft.com/office/drawing/2014/main" id="{9B4D0598-0D1E-B170-E7FD-739661160938}"/>
              </a:ext>
            </a:extLst>
          </p:cNvPr>
          <p:cNvSpPr txBox="1"/>
          <p:nvPr/>
        </p:nvSpPr>
        <p:spPr>
          <a:xfrm>
            <a:off x="5443586" y="5522155"/>
            <a:ext cx="6250005" cy="707886"/>
          </a:xfrm>
          <a:prstGeom prst="rect">
            <a:avLst/>
          </a:prstGeom>
          <a:noFill/>
        </p:spPr>
        <p:txBody>
          <a:bodyPr wrap="square" rtlCol="0">
            <a:spAutoFit/>
          </a:bodyPr>
          <a:lstStyle/>
          <a:p>
            <a:pPr algn="ctr"/>
            <a:r>
              <a:rPr lang="en-GB" sz="2000" dirty="0">
                <a:solidFill>
                  <a:prstClr val="black"/>
                </a:solidFill>
                <a:latin typeface="Univers Condensed Light"/>
              </a:rPr>
              <a:t>From the table it is evident that the core component is the </a:t>
            </a:r>
            <a:r>
              <a:rPr lang="en-GB" sz="2000" b="1" dirty="0">
                <a:solidFill>
                  <a:prstClr val="black"/>
                </a:solidFill>
                <a:latin typeface="Univers Condensed Light"/>
              </a:rPr>
              <a:t>CT block</a:t>
            </a:r>
            <a:r>
              <a:rPr lang="en-GB" sz="2000" dirty="0">
                <a:solidFill>
                  <a:prstClr val="black"/>
                </a:solidFill>
                <a:latin typeface="Univers Condensed Light"/>
              </a:rPr>
              <a:t>, indeed without it all the three metrics exhibit a sharp drop</a:t>
            </a:r>
          </a:p>
        </p:txBody>
      </p:sp>
      <p:pic>
        <p:nvPicPr>
          <p:cNvPr id="7" name="Immagine 6" descr="Immagine che contiene testo, schermata, Carattere, linea&#10;&#10;Il contenuto generato dall'IA potrebbe non essere corretto.">
            <a:extLst>
              <a:ext uri="{FF2B5EF4-FFF2-40B4-BE49-F238E27FC236}">
                <a16:creationId xmlns:a16="http://schemas.microsoft.com/office/drawing/2014/main" id="{DAC1380B-C393-A086-33AE-374765873465}"/>
              </a:ext>
            </a:extLst>
          </p:cNvPr>
          <p:cNvPicPr>
            <a:picLocks noChangeAspect="1"/>
          </p:cNvPicPr>
          <p:nvPr/>
        </p:nvPicPr>
        <p:blipFill>
          <a:blip r:embed="rId6"/>
          <a:stretch>
            <a:fillRect/>
          </a:stretch>
        </p:blipFill>
        <p:spPr>
          <a:xfrm>
            <a:off x="1636850" y="3596177"/>
            <a:ext cx="6717812" cy="1427705"/>
          </a:xfrm>
          <a:prstGeom prst="rect">
            <a:avLst/>
          </a:prstGeom>
        </p:spPr>
      </p:pic>
      <mc:AlternateContent xmlns:mc="http://schemas.openxmlformats.org/markup-compatibility/2006" xmlns:p14="http://schemas.microsoft.com/office/powerpoint/2010/main">
        <mc:Choice Requires="p14">
          <p:contentPart p14:bwMode="auto" r:id="rId7">
            <p14:nvContentPartPr>
              <p14:cNvPr id="8" name="Input penna 7">
                <a:extLst>
                  <a:ext uri="{FF2B5EF4-FFF2-40B4-BE49-F238E27FC236}">
                    <a16:creationId xmlns:a16="http://schemas.microsoft.com/office/drawing/2014/main" id="{7C5C9EF3-C3B2-0FBD-8105-5161018D55D7}"/>
                  </a:ext>
                </a:extLst>
              </p14:cNvPr>
              <p14:cNvContentPartPr/>
              <p14:nvPr/>
            </p14:nvContentPartPr>
            <p14:xfrm rot="19144072">
              <a:off x="5620303" y="3657397"/>
              <a:ext cx="1997320" cy="1714471"/>
            </p14:xfrm>
          </p:contentPart>
        </mc:Choice>
        <mc:Fallback xmlns="">
          <p:pic>
            <p:nvPicPr>
              <p:cNvPr id="8" name="Input penna 7">
                <a:extLst>
                  <a:ext uri="{FF2B5EF4-FFF2-40B4-BE49-F238E27FC236}">
                    <a16:creationId xmlns:a16="http://schemas.microsoft.com/office/drawing/2014/main" id="{7C5C9EF3-C3B2-0FBD-8105-5161018D55D7}"/>
                  </a:ext>
                </a:extLst>
              </p:cNvPr>
              <p:cNvPicPr/>
              <p:nvPr/>
            </p:nvPicPr>
            <p:blipFill>
              <a:blip r:embed="rId8"/>
              <a:stretch>
                <a:fillRect/>
              </a:stretch>
            </p:blipFill>
            <p:spPr>
              <a:xfrm rot="19144072">
                <a:off x="5566302" y="3549410"/>
                <a:ext cx="2104962" cy="1930085"/>
              </a:xfrm>
              <a:prstGeom prst="rect">
                <a:avLst/>
              </a:prstGeom>
            </p:spPr>
          </p:pic>
        </mc:Fallback>
      </mc:AlternateContent>
      <p:cxnSp>
        <p:nvCxnSpPr>
          <p:cNvPr id="13" name="Connettore 2 12">
            <a:extLst>
              <a:ext uri="{FF2B5EF4-FFF2-40B4-BE49-F238E27FC236}">
                <a16:creationId xmlns:a16="http://schemas.microsoft.com/office/drawing/2014/main" id="{41227ECF-C669-A99C-5C50-BBA02F3865F4}"/>
              </a:ext>
            </a:extLst>
          </p:cNvPr>
          <p:cNvCxnSpPr>
            <a:cxnSpLocks/>
          </p:cNvCxnSpPr>
          <p:nvPr/>
        </p:nvCxnSpPr>
        <p:spPr>
          <a:xfrm>
            <a:off x="8285266" y="4542744"/>
            <a:ext cx="675854" cy="863490"/>
          </a:xfrm>
          <a:prstGeom prst="straightConnector1">
            <a:avLst/>
          </a:prstGeom>
          <a:ln>
            <a:solidFill>
              <a:srgbClr val="822433"/>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7" name="CasellaDiTesto 16">
            <a:extLst>
              <a:ext uri="{FF2B5EF4-FFF2-40B4-BE49-F238E27FC236}">
                <a16:creationId xmlns:a16="http://schemas.microsoft.com/office/drawing/2014/main" id="{BF70C718-231A-D36A-3851-C1FC21CED9CC}"/>
              </a:ext>
            </a:extLst>
          </p:cNvPr>
          <p:cNvSpPr txBox="1"/>
          <p:nvPr/>
        </p:nvSpPr>
        <p:spPr>
          <a:xfrm>
            <a:off x="2244938" y="3301571"/>
            <a:ext cx="4988419" cy="400110"/>
          </a:xfrm>
          <a:prstGeom prst="rect">
            <a:avLst/>
          </a:prstGeom>
          <a:noFill/>
        </p:spPr>
        <p:txBody>
          <a:bodyPr wrap="square" rtlCol="0">
            <a:spAutoFit/>
          </a:bodyPr>
          <a:lstStyle/>
          <a:p>
            <a:pPr algn="ctr"/>
            <a:r>
              <a:rPr lang="en-GB" sz="2000" b="1" dirty="0">
                <a:solidFill>
                  <a:prstClr val="black"/>
                </a:solidFill>
                <a:latin typeface="Univers Condensed Light"/>
              </a:rPr>
              <a:t>Ablation study</a:t>
            </a:r>
          </a:p>
        </p:txBody>
      </p:sp>
    </p:spTree>
    <p:extLst>
      <p:ext uri="{BB962C8B-B14F-4D97-AF65-F5344CB8AC3E}">
        <p14:creationId xmlns:p14="http://schemas.microsoft.com/office/powerpoint/2010/main" val="725439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7CF7C-D52F-E673-DBC1-68EF62650B21}"/>
            </a:ext>
          </a:extLst>
        </p:cNvPr>
        <p:cNvGrpSpPr/>
        <p:nvPr/>
      </p:nvGrpSpPr>
      <p:grpSpPr>
        <a:xfrm>
          <a:off x="0" y="0"/>
          <a:ext cx="0" cy="0"/>
          <a:chOff x="0" y="0"/>
          <a:chExt cx="0" cy="0"/>
        </a:xfrm>
      </p:grpSpPr>
      <p:pic>
        <p:nvPicPr>
          <p:cNvPr id="2053" name="Immagine 2052" descr="Immagine che contiene design, busta, statico&#10;&#10;Il contenuto generato dall'IA potrebbe non essere corretto.">
            <a:extLst>
              <a:ext uri="{FF2B5EF4-FFF2-40B4-BE49-F238E27FC236}">
                <a16:creationId xmlns:a16="http://schemas.microsoft.com/office/drawing/2014/main" id="{92D7ACB1-A841-089D-9C94-BA5E87A14163}"/>
              </a:ext>
            </a:extLst>
          </p:cNvPr>
          <p:cNvPicPr>
            <a:picLocks noChangeAspect="1"/>
          </p:cNvPicPr>
          <p:nvPr/>
        </p:nvPicPr>
        <p:blipFill>
          <a:blip r:embed="rId2"/>
          <a:srcRect l="11707" t="9332" r="105"/>
          <a:stretch>
            <a:fillRect/>
          </a:stretch>
        </p:blipFill>
        <p:spPr>
          <a:xfrm>
            <a:off x="0" y="1"/>
            <a:ext cx="1094960" cy="2066544"/>
          </a:xfrm>
          <a:prstGeom prst="rect">
            <a:avLst/>
          </a:prstGeom>
        </p:spPr>
      </p:pic>
      <p:sp>
        <p:nvSpPr>
          <p:cNvPr id="2" name="Segnaposto numero diapositiva 1">
            <a:extLst>
              <a:ext uri="{FF2B5EF4-FFF2-40B4-BE49-F238E27FC236}">
                <a16:creationId xmlns:a16="http://schemas.microsoft.com/office/drawing/2014/main" id="{AA50D42F-741C-D221-181A-54AFAC65436F}"/>
              </a:ext>
            </a:extLst>
          </p:cNvPr>
          <p:cNvSpPr>
            <a:spLocks noGrp="1"/>
          </p:cNvSpPr>
          <p:nvPr>
            <p:ph type="sldNum" sz="quarter" idx="12"/>
          </p:nvPr>
        </p:nvSpPr>
        <p:spPr>
          <a:xfrm>
            <a:off x="188534" y="6512928"/>
            <a:ext cx="11787433" cy="365125"/>
          </a:xfrm>
        </p:spPr>
        <p:txBody>
          <a:bodyPr/>
          <a:lstStyle/>
          <a:p>
            <a:fld id="{6BDFA317-9872-4CA4-AEEB-C3769785CDD8}" type="slidenum">
              <a:rPr lang="en-GB" smtClean="0"/>
              <a:t>10</a:t>
            </a:fld>
            <a:endParaRPr lang="en-GB" dirty="0"/>
          </a:p>
        </p:txBody>
      </p:sp>
      <p:sp>
        <p:nvSpPr>
          <p:cNvPr id="4" name="Segnaposto numero diapositiva 1">
            <a:extLst>
              <a:ext uri="{FF2B5EF4-FFF2-40B4-BE49-F238E27FC236}">
                <a16:creationId xmlns:a16="http://schemas.microsoft.com/office/drawing/2014/main" id="{C17AFEF8-4903-FC73-4064-FA1BA6A4BF10}"/>
              </a:ext>
            </a:extLst>
          </p:cNvPr>
          <p:cNvSpPr txBox="1">
            <a:spLocks/>
          </p:cNvSpPr>
          <p:nvPr/>
        </p:nvSpPr>
        <p:spPr>
          <a:xfrm>
            <a:off x="9144" y="6512928"/>
            <a:ext cx="1591559"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Samuele Tomassacci</a:t>
            </a:r>
          </a:p>
        </p:txBody>
      </p:sp>
      <p:sp>
        <p:nvSpPr>
          <p:cNvPr id="5" name="Segnaposto numero diapositiva 1">
            <a:extLst>
              <a:ext uri="{FF2B5EF4-FFF2-40B4-BE49-F238E27FC236}">
                <a16:creationId xmlns:a16="http://schemas.microsoft.com/office/drawing/2014/main" id="{63C34F5C-F3F8-F27B-910A-100277BF030C}"/>
              </a:ext>
            </a:extLst>
          </p:cNvPr>
          <p:cNvSpPr txBox="1">
            <a:spLocks/>
          </p:cNvSpPr>
          <p:nvPr/>
        </p:nvSpPr>
        <p:spPr>
          <a:xfrm>
            <a:off x="5443586" y="6512928"/>
            <a:ext cx="1304828"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Neural Networks</a:t>
            </a:r>
          </a:p>
        </p:txBody>
      </p:sp>
      <p:pic>
        <p:nvPicPr>
          <p:cNvPr id="9" name="Picture 10">
            <a:extLst>
              <a:ext uri="{FF2B5EF4-FFF2-40B4-BE49-F238E27FC236}">
                <a16:creationId xmlns:a16="http://schemas.microsoft.com/office/drawing/2014/main" id="{540BB33E-2311-6331-2658-6BDED94A4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0034" y="98818"/>
            <a:ext cx="1490673" cy="448444"/>
          </a:xfrm>
          <a:prstGeom prst="rect">
            <a:avLst/>
          </a:prstGeom>
          <a:noFill/>
          <a:extLst>
            <a:ext uri="{909E8E84-426E-40DD-AFC4-6F175D3DCCD1}">
              <a14:hiddenFill xmlns:a14="http://schemas.microsoft.com/office/drawing/2010/main">
                <a:solidFill>
                  <a:srgbClr val="FFFFFF"/>
                </a:solidFill>
              </a14:hiddenFill>
            </a:ext>
          </a:extLst>
        </p:spPr>
      </p:pic>
      <p:sp>
        <p:nvSpPr>
          <p:cNvPr id="10" name="Titolo 1">
            <a:extLst>
              <a:ext uri="{FF2B5EF4-FFF2-40B4-BE49-F238E27FC236}">
                <a16:creationId xmlns:a16="http://schemas.microsoft.com/office/drawing/2014/main" id="{9C9B2633-D32F-6D6E-E16E-7E3041C339AD}"/>
              </a:ext>
            </a:extLst>
          </p:cNvPr>
          <p:cNvSpPr>
            <a:spLocks noGrp="1"/>
          </p:cNvSpPr>
          <p:nvPr>
            <p:ph type="ctrTitle"/>
          </p:nvPr>
        </p:nvSpPr>
        <p:spPr>
          <a:xfrm>
            <a:off x="3141432" y="-18569"/>
            <a:ext cx="5604334" cy="683218"/>
          </a:xfrm>
        </p:spPr>
        <p:txBody>
          <a:bodyPr rtlCol="0" anchor="t">
            <a:noAutofit/>
          </a:bodyPr>
          <a:lstStyle/>
          <a:p>
            <a:r>
              <a:rPr lang="en-US" sz="4400" b="1" dirty="0">
                <a:latin typeface="Bookman Old Style" panose="02050604050505020204" pitchFamily="18" charset="0"/>
              </a:rPr>
              <a:t>Results</a:t>
            </a:r>
            <a:br>
              <a:rPr lang="en-US" sz="4400" b="1" dirty="0">
                <a:solidFill>
                  <a:schemeClr val="tx1"/>
                </a:solidFill>
                <a:latin typeface="Bookman Old Style" panose="02050604050505020204" pitchFamily="18" charset="0"/>
              </a:rPr>
            </a:br>
            <a:br>
              <a:rPr lang="en-US" sz="4400" b="1" dirty="0">
                <a:solidFill>
                  <a:schemeClr val="tx1"/>
                </a:solidFill>
                <a:latin typeface="Bookman Old Style" panose="02050604050505020204" pitchFamily="18" charset="0"/>
              </a:rPr>
            </a:br>
            <a:endParaRPr lang="it" sz="4400" b="1" dirty="0">
              <a:solidFill>
                <a:schemeClr val="tx1"/>
              </a:solidFill>
              <a:latin typeface="Bookman Old Style" panose="02050604050505020204" pitchFamily="18" charset="0"/>
            </a:endParaRPr>
          </a:p>
        </p:txBody>
      </p:sp>
      <p:cxnSp>
        <p:nvCxnSpPr>
          <p:cNvPr id="12" name="Connettore diritto 11">
            <a:extLst>
              <a:ext uri="{FF2B5EF4-FFF2-40B4-BE49-F238E27FC236}">
                <a16:creationId xmlns:a16="http://schemas.microsoft.com/office/drawing/2014/main" id="{CC78C17F-B570-4FED-8E27-093E62CC3605}"/>
              </a:ext>
            </a:extLst>
          </p:cNvPr>
          <p:cNvCxnSpPr/>
          <p:nvPr/>
        </p:nvCxnSpPr>
        <p:spPr>
          <a:xfrm>
            <a:off x="4739148" y="664649"/>
            <a:ext cx="2408903"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22" name="AutoShape 2" descr="5 Best Free Google Slides Space Theme - MasterBundles">
            <a:extLst>
              <a:ext uri="{FF2B5EF4-FFF2-40B4-BE49-F238E27FC236}">
                <a16:creationId xmlns:a16="http://schemas.microsoft.com/office/drawing/2014/main" id="{796208B8-5B71-0822-703F-AD32FA6769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cxnSp>
        <p:nvCxnSpPr>
          <p:cNvPr id="3" name="Connettore diritto 2">
            <a:extLst>
              <a:ext uri="{FF2B5EF4-FFF2-40B4-BE49-F238E27FC236}">
                <a16:creationId xmlns:a16="http://schemas.microsoft.com/office/drawing/2014/main" id="{201C6B52-9C7F-32E2-7933-13B51CCD8DCC}"/>
              </a:ext>
            </a:extLst>
          </p:cNvPr>
          <p:cNvCxnSpPr>
            <a:cxnSpLocks/>
          </p:cNvCxnSpPr>
          <p:nvPr/>
        </p:nvCxnSpPr>
        <p:spPr>
          <a:xfrm>
            <a:off x="0" y="6512928"/>
            <a:ext cx="12192000"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pic>
        <p:nvPicPr>
          <p:cNvPr id="8" name="Immagine 7" descr="Immagine che contiene schermata, Policromia, Elementi grafici, grafica&#10;&#10;Il contenuto generato dall'IA potrebbe non essere corretto.">
            <a:extLst>
              <a:ext uri="{FF2B5EF4-FFF2-40B4-BE49-F238E27FC236}">
                <a16:creationId xmlns:a16="http://schemas.microsoft.com/office/drawing/2014/main" id="{F867A262-3FA2-0AB4-3D6E-95F340B06C49}"/>
              </a:ext>
            </a:extLst>
          </p:cNvPr>
          <p:cNvPicPr>
            <a:picLocks noChangeAspect="1"/>
          </p:cNvPicPr>
          <p:nvPr/>
        </p:nvPicPr>
        <p:blipFill>
          <a:blip r:embed="rId4"/>
          <a:stretch>
            <a:fillRect/>
          </a:stretch>
        </p:blipFill>
        <p:spPr>
          <a:xfrm>
            <a:off x="2086887" y="1764222"/>
            <a:ext cx="2378464" cy="4091898"/>
          </a:xfrm>
          <a:prstGeom prst="rect">
            <a:avLst/>
          </a:prstGeom>
        </p:spPr>
      </p:pic>
      <p:pic>
        <p:nvPicPr>
          <p:cNvPr id="13" name="Immagine 12" descr="Immagine che contiene schermata, Policromia, Elementi grafici, grafica&#10;&#10;Il contenuto generato dall'IA potrebbe non essere corretto.">
            <a:extLst>
              <a:ext uri="{FF2B5EF4-FFF2-40B4-BE49-F238E27FC236}">
                <a16:creationId xmlns:a16="http://schemas.microsoft.com/office/drawing/2014/main" id="{D9BF9A41-E8AE-ED8D-94EA-B796C3B56221}"/>
              </a:ext>
            </a:extLst>
          </p:cNvPr>
          <p:cNvPicPr>
            <a:picLocks noChangeAspect="1"/>
          </p:cNvPicPr>
          <p:nvPr/>
        </p:nvPicPr>
        <p:blipFill>
          <a:blip r:embed="rId5"/>
          <a:stretch>
            <a:fillRect/>
          </a:stretch>
        </p:blipFill>
        <p:spPr>
          <a:xfrm>
            <a:off x="6082250" y="1764222"/>
            <a:ext cx="2317193" cy="4091898"/>
          </a:xfrm>
          <a:prstGeom prst="rect">
            <a:avLst/>
          </a:prstGeom>
        </p:spPr>
      </p:pic>
      <p:sp>
        <p:nvSpPr>
          <p:cNvPr id="6" name="CasellaDiTesto 5">
            <a:extLst>
              <a:ext uri="{FF2B5EF4-FFF2-40B4-BE49-F238E27FC236}">
                <a16:creationId xmlns:a16="http://schemas.microsoft.com/office/drawing/2014/main" id="{3110D498-9219-1317-2A2F-BE8A8C34BE3C}"/>
              </a:ext>
            </a:extLst>
          </p:cNvPr>
          <p:cNvSpPr txBox="1"/>
          <p:nvPr/>
        </p:nvSpPr>
        <p:spPr>
          <a:xfrm>
            <a:off x="1094960" y="776499"/>
            <a:ext cx="8028863" cy="707886"/>
          </a:xfrm>
          <a:prstGeom prst="rect">
            <a:avLst/>
          </a:prstGeom>
          <a:noFill/>
        </p:spPr>
        <p:txBody>
          <a:bodyPr wrap="square" rtlCol="0">
            <a:spAutoFit/>
          </a:bodyPr>
          <a:lstStyle/>
          <a:p>
            <a:pPr algn="ctr"/>
            <a:r>
              <a:rPr lang="en-US" sz="2000" dirty="0">
                <a:solidFill>
                  <a:prstClr val="black"/>
                </a:solidFill>
                <a:latin typeface="Univers Condensed Light"/>
              </a:rPr>
              <a:t>Semantic land cover classification results: ground truth (left) and model prediction (right). The legend shows the correspondence between color and class.</a:t>
            </a:r>
            <a:endParaRPr lang="en-GB" sz="2000" dirty="0">
              <a:solidFill>
                <a:prstClr val="black"/>
              </a:solidFill>
              <a:latin typeface="Univers Condensed Light"/>
            </a:endParaRPr>
          </a:p>
        </p:txBody>
      </p:sp>
      <p:sp>
        <p:nvSpPr>
          <p:cNvPr id="11" name="CasellaDiTesto 10">
            <a:extLst>
              <a:ext uri="{FF2B5EF4-FFF2-40B4-BE49-F238E27FC236}">
                <a16:creationId xmlns:a16="http://schemas.microsoft.com/office/drawing/2014/main" id="{AA57A4AF-27CD-8F43-0B21-8B2CD1473931}"/>
              </a:ext>
            </a:extLst>
          </p:cNvPr>
          <p:cNvSpPr txBox="1"/>
          <p:nvPr/>
        </p:nvSpPr>
        <p:spPr>
          <a:xfrm>
            <a:off x="2436396" y="5856120"/>
            <a:ext cx="1679445" cy="400110"/>
          </a:xfrm>
          <a:prstGeom prst="rect">
            <a:avLst/>
          </a:prstGeom>
          <a:noFill/>
        </p:spPr>
        <p:txBody>
          <a:bodyPr wrap="square" rtlCol="0">
            <a:spAutoFit/>
          </a:bodyPr>
          <a:lstStyle/>
          <a:p>
            <a:pPr algn="ctr"/>
            <a:r>
              <a:rPr lang="en-GB" sz="2000" b="1" dirty="0">
                <a:solidFill>
                  <a:prstClr val="black"/>
                </a:solidFill>
                <a:latin typeface="Univers Condensed Light"/>
              </a:rPr>
              <a:t>Ground truth</a:t>
            </a:r>
          </a:p>
        </p:txBody>
      </p:sp>
      <p:sp>
        <p:nvSpPr>
          <p:cNvPr id="15" name="CasellaDiTesto 14">
            <a:extLst>
              <a:ext uri="{FF2B5EF4-FFF2-40B4-BE49-F238E27FC236}">
                <a16:creationId xmlns:a16="http://schemas.microsoft.com/office/drawing/2014/main" id="{99BDD73C-4741-38DB-48B6-72BAC6AA1E4F}"/>
              </a:ext>
            </a:extLst>
          </p:cNvPr>
          <p:cNvSpPr txBox="1"/>
          <p:nvPr/>
        </p:nvSpPr>
        <p:spPr>
          <a:xfrm>
            <a:off x="6401123" y="5832981"/>
            <a:ext cx="1679445" cy="400110"/>
          </a:xfrm>
          <a:prstGeom prst="rect">
            <a:avLst/>
          </a:prstGeom>
          <a:noFill/>
        </p:spPr>
        <p:txBody>
          <a:bodyPr wrap="square" rtlCol="0">
            <a:spAutoFit/>
          </a:bodyPr>
          <a:lstStyle/>
          <a:p>
            <a:pPr algn="ctr"/>
            <a:r>
              <a:rPr lang="en-GB" sz="2000" b="1" dirty="0">
                <a:solidFill>
                  <a:prstClr val="black"/>
                </a:solidFill>
                <a:latin typeface="Univers Condensed Light"/>
              </a:rPr>
              <a:t>Predicted</a:t>
            </a:r>
          </a:p>
        </p:txBody>
      </p:sp>
      <p:pic>
        <p:nvPicPr>
          <p:cNvPr id="18" name="Immagine 17" descr="Immagine che contiene testo, schermata, Carattere, numero&#10;&#10;Il contenuto generato dall'IA potrebbe non essere corretto.">
            <a:extLst>
              <a:ext uri="{FF2B5EF4-FFF2-40B4-BE49-F238E27FC236}">
                <a16:creationId xmlns:a16="http://schemas.microsoft.com/office/drawing/2014/main" id="{2F77C84E-C0C4-3B17-027E-0322D036C23C}"/>
              </a:ext>
            </a:extLst>
          </p:cNvPr>
          <p:cNvPicPr>
            <a:picLocks noChangeAspect="1"/>
          </p:cNvPicPr>
          <p:nvPr/>
        </p:nvPicPr>
        <p:blipFill>
          <a:blip r:embed="rId6"/>
          <a:srcRect r="2979"/>
          <a:stretch>
            <a:fillRect/>
          </a:stretch>
        </p:blipFill>
        <p:spPr>
          <a:xfrm>
            <a:off x="8915882" y="664649"/>
            <a:ext cx="2770150" cy="2507005"/>
          </a:xfrm>
          <a:prstGeom prst="rect">
            <a:avLst/>
          </a:prstGeom>
        </p:spPr>
      </p:pic>
    </p:spTree>
    <p:extLst>
      <p:ext uri="{BB962C8B-B14F-4D97-AF65-F5344CB8AC3E}">
        <p14:creationId xmlns:p14="http://schemas.microsoft.com/office/powerpoint/2010/main" val="3361773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13D60-A2EF-FB14-0743-67D7129D6CF4}"/>
            </a:ext>
          </a:extLst>
        </p:cNvPr>
        <p:cNvGrpSpPr/>
        <p:nvPr/>
      </p:nvGrpSpPr>
      <p:grpSpPr>
        <a:xfrm>
          <a:off x="0" y="0"/>
          <a:ext cx="0" cy="0"/>
          <a:chOff x="0" y="0"/>
          <a:chExt cx="0" cy="0"/>
        </a:xfrm>
      </p:grpSpPr>
      <p:pic>
        <p:nvPicPr>
          <p:cNvPr id="2053" name="Immagine 2052" descr="Immagine che contiene design, busta, statico&#10;&#10;Il contenuto generato dall'IA potrebbe non essere corretto.">
            <a:extLst>
              <a:ext uri="{FF2B5EF4-FFF2-40B4-BE49-F238E27FC236}">
                <a16:creationId xmlns:a16="http://schemas.microsoft.com/office/drawing/2014/main" id="{B3E31D2E-09C8-E8F7-9623-0D4B923C241D}"/>
              </a:ext>
            </a:extLst>
          </p:cNvPr>
          <p:cNvPicPr>
            <a:picLocks noChangeAspect="1"/>
          </p:cNvPicPr>
          <p:nvPr/>
        </p:nvPicPr>
        <p:blipFill>
          <a:blip r:embed="rId2"/>
          <a:srcRect l="11707" t="9332" r="105"/>
          <a:stretch>
            <a:fillRect/>
          </a:stretch>
        </p:blipFill>
        <p:spPr>
          <a:xfrm>
            <a:off x="0" y="1"/>
            <a:ext cx="1094960" cy="2066544"/>
          </a:xfrm>
          <a:prstGeom prst="rect">
            <a:avLst/>
          </a:prstGeom>
        </p:spPr>
      </p:pic>
      <p:sp>
        <p:nvSpPr>
          <p:cNvPr id="2" name="Segnaposto numero diapositiva 1">
            <a:extLst>
              <a:ext uri="{FF2B5EF4-FFF2-40B4-BE49-F238E27FC236}">
                <a16:creationId xmlns:a16="http://schemas.microsoft.com/office/drawing/2014/main" id="{F8041FF3-2110-EF11-D8B9-E300B1A2D286}"/>
              </a:ext>
            </a:extLst>
          </p:cNvPr>
          <p:cNvSpPr>
            <a:spLocks noGrp="1"/>
          </p:cNvSpPr>
          <p:nvPr>
            <p:ph type="sldNum" sz="quarter" idx="12"/>
          </p:nvPr>
        </p:nvSpPr>
        <p:spPr>
          <a:xfrm>
            <a:off x="188534" y="6512928"/>
            <a:ext cx="11787433" cy="365125"/>
          </a:xfrm>
        </p:spPr>
        <p:txBody>
          <a:bodyPr/>
          <a:lstStyle/>
          <a:p>
            <a:fld id="{6BDFA317-9872-4CA4-AEEB-C3769785CDD8}" type="slidenum">
              <a:rPr lang="en-GB" smtClean="0"/>
              <a:t>11</a:t>
            </a:fld>
            <a:endParaRPr lang="en-GB" dirty="0"/>
          </a:p>
        </p:txBody>
      </p:sp>
      <p:sp>
        <p:nvSpPr>
          <p:cNvPr id="4" name="Segnaposto numero diapositiva 1">
            <a:extLst>
              <a:ext uri="{FF2B5EF4-FFF2-40B4-BE49-F238E27FC236}">
                <a16:creationId xmlns:a16="http://schemas.microsoft.com/office/drawing/2014/main" id="{8146365D-5F8A-53C8-185B-A70B424A542F}"/>
              </a:ext>
            </a:extLst>
          </p:cNvPr>
          <p:cNvSpPr txBox="1">
            <a:spLocks/>
          </p:cNvSpPr>
          <p:nvPr/>
        </p:nvSpPr>
        <p:spPr>
          <a:xfrm>
            <a:off x="9144" y="6512928"/>
            <a:ext cx="1591559"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Samuele Tomassacci</a:t>
            </a:r>
          </a:p>
        </p:txBody>
      </p:sp>
      <p:sp>
        <p:nvSpPr>
          <p:cNvPr id="5" name="Segnaposto numero diapositiva 1">
            <a:extLst>
              <a:ext uri="{FF2B5EF4-FFF2-40B4-BE49-F238E27FC236}">
                <a16:creationId xmlns:a16="http://schemas.microsoft.com/office/drawing/2014/main" id="{3CDF5D67-4562-5476-C34D-D7970C0B1ED1}"/>
              </a:ext>
            </a:extLst>
          </p:cNvPr>
          <p:cNvSpPr txBox="1">
            <a:spLocks/>
          </p:cNvSpPr>
          <p:nvPr/>
        </p:nvSpPr>
        <p:spPr>
          <a:xfrm>
            <a:off x="5443586" y="6512928"/>
            <a:ext cx="1304828"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dirty="0"/>
              <a:t>Neural Networks</a:t>
            </a:r>
          </a:p>
        </p:txBody>
      </p:sp>
      <p:pic>
        <p:nvPicPr>
          <p:cNvPr id="9" name="Picture 10">
            <a:extLst>
              <a:ext uri="{FF2B5EF4-FFF2-40B4-BE49-F238E27FC236}">
                <a16:creationId xmlns:a16="http://schemas.microsoft.com/office/drawing/2014/main" id="{EBC213A8-5807-1BA9-9441-4E0E4CFF74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0034" y="98818"/>
            <a:ext cx="1490673" cy="448444"/>
          </a:xfrm>
          <a:prstGeom prst="rect">
            <a:avLst/>
          </a:prstGeom>
          <a:noFill/>
          <a:extLst>
            <a:ext uri="{909E8E84-426E-40DD-AFC4-6F175D3DCCD1}">
              <a14:hiddenFill xmlns:a14="http://schemas.microsoft.com/office/drawing/2010/main">
                <a:solidFill>
                  <a:srgbClr val="FFFFFF"/>
                </a:solidFill>
              </a14:hiddenFill>
            </a:ext>
          </a:extLst>
        </p:spPr>
      </p:pic>
      <p:sp>
        <p:nvSpPr>
          <p:cNvPr id="10" name="Titolo 1">
            <a:extLst>
              <a:ext uri="{FF2B5EF4-FFF2-40B4-BE49-F238E27FC236}">
                <a16:creationId xmlns:a16="http://schemas.microsoft.com/office/drawing/2014/main" id="{08D70F6F-715F-18C3-A7E1-C68B85861B73}"/>
              </a:ext>
            </a:extLst>
          </p:cNvPr>
          <p:cNvSpPr>
            <a:spLocks noGrp="1"/>
          </p:cNvSpPr>
          <p:nvPr>
            <p:ph type="ctrTitle"/>
          </p:nvPr>
        </p:nvSpPr>
        <p:spPr>
          <a:xfrm>
            <a:off x="3141432" y="-18569"/>
            <a:ext cx="5604334" cy="683218"/>
          </a:xfrm>
        </p:spPr>
        <p:txBody>
          <a:bodyPr rtlCol="0" anchor="t">
            <a:noAutofit/>
          </a:bodyPr>
          <a:lstStyle/>
          <a:p>
            <a:r>
              <a:rPr lang="en-US" sz="4400" b="1" dirty="0">
                <a:latin typeface="Bookman Old Style" panose="02050604050505020204" pitchFamily="18" charset="0"/>
              </a:rPr>
              <a:t>Conclusions </a:t>
            </a:r>
            <a:br>
              <a:rPr lang="en-US" sz="4400" b="1" dirty="0">
                <a:solidFill>
                  <a:schemeClr val="tx1"/>
                </a:solidFill>
                <a:latin typeface="Bookman Old Style" panose="02050604050505020204" pitchFamily="18" charset="0"/>
              </a:rPr>
            </a:br>
            <a:br>
              <a:rPr lang="en-US" sz="4400" b="1" dirty="0">
                <a:solidFill>
                  <a:schemeClr val="tx1"/>
                </a:solidFill>
                <a:latin typeface="Bookman Old Style" panose="02050604050505020204" pitchFamily="18" charset="0"/>
              </a:rPr>
            </a:br>
            <a:endParaRPr lang="it" sz="4400" b="1" dirty="0">
              <a:solidFill>
                <a:schemeClr val="tx1"/>
              </a:solidFill>
              <a:latin typeface="Bookman Old Style" panose="02050604050505020204" pitchFamily="18" charset="0"/>
            </a:endParaRPr>
          </a:p>
        </p:txBody>
      </p:sp>
      <p:cxnSp>
        <p:nvCxnSpPr>
          <p:cNvPr id="12" name="Connettore diritto 11">
            <a:extLst>
              <a:ext uri="{FF2B5EF4-FFF2-40B4-BE49-F238E27FC236}">
                <a16:creationId xmlns:a16="http://schemas.microsoft.com/office/drawing/2014/main" id="{E9A8E6A6-895E-C842-F30D-07BC2FF285E2}"/>
              </a:ext>
            </a:extLst>
          </p:cNvPr>
          <p:cNvCxnSpPr/>
          <p:nvPr/>
        </p:nvCxnSpPr>
        <p:spPr>
          <a:xfrm>
            <a:off x="4739148" y="664649"/>
            <a:ext cx="2408903"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22" name="AutoShape 2" descr="5 Best Free Google Slides Space Theme - MasterBundles">
            <a:extLst>
              <a:ext uri="{FF2B5EF4-FFF2-40B4-BE49-F238E27FC236}">
                <a16:creationId xmlns:a16="http://schemas.microsoft.com/office/drawing/2014/main" id="{6A39EE70-41F9-0872-B5D3-3AB7765E2D0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cxnSp>
        <p:nvCxnSpPr>
          <p:cNvPr id="3" name="Connettore diritto 2">
            <a:extLst>
              <a:ext uri="{FF2B5EF4-FFF2-40B4-BE49-F238E27FC236}">
                <a16:creationId xmlns:a16="http://schemas.microsoft.com/office/drawing/2014/main" id="{DA8E6CBE-4DC0-9669-5A69-BDA2C03AF682}"/>
              </a:ext>
            </a:extLst>
          </p:cNvPr>
          <p:cNvCxnSpPr>
            <a:cxnSpLocks/>
          </p:cNvCxnSpPr>
          <p:nvPr/>
        </p:nvCxnSpPr>
        <p:spPr>
          <a:xfrm>
            <a:off x="0" y="6512928"/>
            <a:ext cx="12192000" cy="0"/>
          </a:xfrm>
          <a:prstGeom prst="line">
            <a:avLst/>
          </a:prstGeom>
          <a:ln w="28575">
            <a:solidFill>
              <a:srgbClr val="822433"/>
            </a:solidFill>
          </a:ln>
        </p:spPr>
        <p:style>
          <a:lnRef idx="2">
            <a:schemeClr val="accent1"/>
          </a:lnRef>
          <a:fillRef idx="0">
            <a:schemeClr val="accent1"/>
          </a:fillRef>
          <a:effectRef idx="1">
            <a:schemeClr val="accent1"/>
          </a:effectRef>
          <a:fontRef idx="minor">
            <a:schemeClr val="tx1"/>
          </a:fontRef>
        </p:style>
      </p:cxnSp>
      <p:sp>
        <p:nvSpPr>
          <p:cNvPr id="6" name="CasellaDiTesto 5">
            <a:extLst>
              <a:ext uri="{FF2B5EF4-FFF2-40B4-BE49-F238E27FC236}">
                <a16:creationId xmlns:a16="http://schemas.microsoft.com/office/drawing/2014/main" id="{8AF1D8D7-34DD-1C63-3C15-CACEFE54E060}"/>
              </a:ext>
            </a:extLst>
          </p:cNvPr>
          <p:cNvSpPr txBox="1"/>
          <p:nvPr/>
        </p:nvSpPr>
        <p:spPr>
          <a:xfrm>
            <a:off x="233265" y="1959607"/>
            <a:ext cx="11420665" cy="707886"/>
          </a:xfrm>
          <a:prstGeom prst="rect">
            <a:avLst/>
          </a:prstGeom>
          <a:noFill/>
        </p:spPr>
        <p:txBody>
          <a:bodyPr wrap="square" rtlCol="0">
            <a:spAutoFit/>
          </a:bodyPr>
          <a:lstStyle/>
          <a:p>
            <a:pPr algn="ctr"/>
            <a:r>
              <a:rPr lang="en-US" sz="2000" dirty="0">
                <a:solidFill>
                  <a:prstClr val="black"/>
                </a:solidFill>
                <a:latin typeface="Univers Condensed Light"/>
              </a:rPr>
              <a:t>The model achieves strong and stable results on the Pavia University dataset, with OA, AA, and Kappa values comparable to the reference paper, validating the correctness of the implementation and its effectiveness in few-shot scenarios.</a:t>
            </a:r>
            <a:endParaRPr lang="en-GB" sz="2000" dirty="0">
              <a:solidFill>
                <a:prstClr val="black"/>
              </a:solidFill>
              <a:latin typeface="Univers Condensed Light"/>
            </a:endParaRPr>
          </a:p>
        </p:txBody>
      </p:sp>
      <p:sp>
        <p:nvSpPr>
          <p:cNvPr id="13" name="CasellaDiTesto 12">
            <a:extLst>
              <a:ext uri="{FF2B5EF4-FFF2-40B4-BE49-F238E27FC236}">
                <a16:creationId xmlns:a16="http://schemas.microsoft.com/office/drawing/2014/main" id="{C3592338-063C-5857-4CF1-83B8C3C8260D}"/>
              </a:ext>
            </a:extLst>
          </p:cNvPr>
          <p:cNvSpPr txBox="1"/>
          <p:nvPr/>
        </p:nvSpPr>
        <p:spPr>
          <a:xfrm>
            <a:off x="213269" y="3698084"/>
            <a:ext cx="11765462" cy="707886"/>
          </a:xfrm>
          <a:prstGeom prst="rect">
            <a:avLst/>
          </a:prstGeom>
          <a:noFill/>
        </p:spPr>
        <p:txBody>
          <a:bodyPr wrap="square" rtlCol="0">
            <a:spAutoFit/>
          </a:bodyPr>
          <a:lstStyle/>
          <a:p>
            <a:pPr algn="ctr"/>
            <a:r>
              <a:rPr lang="en-US" sz="2000" dirty="0">
                <a:solidFill>
                  <a:prstClr val="black"/>
                </a:solidFill>
                <a:latin typeface="Univers Condensed Light"/>
              </a:rPr>
              <a:t>The integration of CNN–Transformer architecture with channel–spatial attention enables the model to capture both local spectral–spatial features and global contextual information, leading to high per-class accuracies despite data imbalance.</a:t>
            </a:r>
            <a:endParaRPr lang="en-GB" sz="2000" dirty="0">
              <a:solidFill>
                <a:prstClr val="black"/>
              </a:solidFill>
              <a:latin typeface="Univers Condensed Light"/>
            </a:endParaRPr>
          </a:p>
        </p:txBody>
      </p:sp>
      <p:sp>
        <p:nvSpPr>
          <p:cNvPr id="14" name="CasellaDiTesto 13">
            <a:extLst>
              <a:ext uri="{FF2B5EF4-FFF2-40B4-BE49-F238E27FC236}">
                <a16:creationId xmlns:a16="http://schemas.microsoft.com/office/drawing/2014/main" id="{A0437344-73CD-431C-EC9D-219B6BDDAA02}"/>
              </a:ext>
            </a:extLst>
          </p:cNvPr>
          <p:cNvSpPr txBox="1"/>
          <p:nvPr/>
        </p:nvSpPr>
        <p:spPr>
          <a:xfrm>
            <a:off x="153479" y="5334006"/>
            <a:ext cx="11580235" cy="707886"/>
          </a:xfrm>
          <a:prstGeom prst="rect">
            <a:avLst/>
          </a:prstGeom>
          <a:noFill/>
        </p:spPr>
        <p:txBody>
          <a:bodyPr wrap="square" rtlCol="0">
            <a:spAutoFit/>
          </a:bodyPr>
          <a:lstStyle/>
          <a:p>
            <a:pPr algn="ctr"/>
            <a:r>
              <a:rPr lang="en-US" sz="2000" dirty="0">
                <a:solidFill>
                  <a:prstClr val="black"/>
                </a:solidFill>
                <a:latin typeface="Univers Condensed Light"/>
              </a:rPr>
              <a:t>Future work will focus on channel pruning by removing less informative spectral channels, reducing the input dimensionality and significantly improving model efficiency and inference speed.</a:t>
            </a:r>
            <a:endParaRPr lang="en-GB" sz="2000" dirty="0">
              <a:solidFill>
                <a:prstClr val="black"/>
              </a:solidFill>
              <a:latin typeface="Univers Condensed Light"/>
            </a:endParaRPr>
          </a:p>
        </p:txBody>
      </p:sp>
      <p:sp>
        <p:nvSpPr>
          <p:cNvPr id="15" name="Rettangolo con angoli arrotondati 14">
            <a:extLst>
              <a:ext uri="{FF2B5EF4-FFF2-40B4-BE49-F238E27FC236}">
                <a16:creationId xmlns:a16="http://schemas.microsoft.com/office/drawing/2014/main" id="{3E63A1BE-6764-5A13-C4B9-534F7F564253}"/>
              </a:ext>
            </a:extLst>
          </p:cNvPr>
          <p:cNvSpPr/>
          <p:nvPr/>
        </p:nvSpPr>
        <p:spPr>
          <a:xfrm>
            <a:off x="188534" y="1920601"/>
            <a:ext cx="11465396" cy="857396"/>
          </a:xfrm>
          <a:prstGeom prst="roundRect">
            <a:avLst/>
          </a:prstGeom>
          <a:noFill/>
          <a:ln>
            <a:solidFill>
              <a:srgbClr val="822433"/>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CasellaDiTesto 17">
            <a:extLst>
              <a:ext uri="{FF2B5EF4-FFF2-40B4-BE49-F238E27FC236}">
                <a16:creationId xmlns:a16="http://schemas.microsoft.com/office/drawing/2014/main" id="{483AEE61-68D4-0780-8D2D-80F752DEA138}"/>
              </a:ext>
            </a:extLst>
          </p:cNvPr>
          <p:cNvSpPr txBox="1"/>
          <p:nvPr/>
        </p:nvSpPr>
        <p:spPr>
          <a:xfrm>
            <a:off x="3978939" y="1429720"/>
            <a:ext cx="3929313" cy="400110"/>
          </a:xfrm>
          <a:prstGeom prst="rect">
            <a:avLst/>
          </a:prstGeom>
          <a:noFill/>
        </p:spPr>
        <p:txBody>
          <a:bodyPr wrap="square" rtlCol="0">
            <a:spAutoFit/>
          </a:bodyPr>
          <a:lstStyle/>
          <a:p>
            <a:pPr algn="ctr"/>
            <a:r>
              <a:rPr lang="en-GB" sz="2000" b="1" dirty="0">
                <a:solidFill>
                  <a:prstClr val="black"/>
                </a:solidFill>
                <a:latin typeface="Univers Condensed Light"/>
              </a:rPr>
              <a:t>Model performance and validation</a:t>
            </a:r>
          </a:p>
        </p:txBody>
      </p:sp>
      <p:sp>
        <p:nvSpPr>
          <p:cNvPr id="20" name="CasellaDiTesto 19">
            <a:extLst>
              <a:ext uri="{FF2B5EF4-FFF2-40B4-BE49-F238E27FC236}">
                <a16:creationId xmlns:a16="http://schemas.microsoft.com/office/drawing/2014/main" id="{9146265C-9D94-4A29-A285-6E3B305D680E}"/>
              </a:ext>
            </a:extLst>
          </p:cNvPr>
          <p:cNvSpPr txBox="1"/>
          <p:nvPr/>
        </p:nvSpPr>
        <p:spPr>
          <a:xfrm>
            <a:off x="4117593" y="3083694"/>
            <a:ext cx="3929313" cy="400110"/>
          </a:xfrm>
          <a:prstGeom prst="rect">
            <a:avLst/>
          </a:prstGeom>
          <a:noFill/>
        </p:spPr>
        <p:txBody>
          <a:bodyPr wrap="square" rtlCol="0">
            <a:spAutoFit/>
          </a:bodyPr>
          <a:lstStyle/>
          <a:p>
            <a:pPr algn="ctr"/>
            <a:r>
              <a:rPr lang="en-GB" sz="2000" b="1" dirty="0">
                <a:solidFill>
                  <a:prstClr val="black"/>
                </a:solidFill>
                <a:latin typeface="Univers Condensed Light"/>
              </a:rPr>
              <a:t>Feature extraction capability</a:t>
            </a:r>
          </a:p>
        </p:txBody>
      </p:sp>
      <p:sp>
        <p:nvSpPr>
          <p:cNvPr id="21" name="CasellaDiTesto 20">
            <a:extLst>
              <a:ext uri="{FF2B5EF4-FFF2-40B4-BE49-F238E27FC236}">
                <a16:creationId xmlns:a16="http://schemas.microsoft.com/office/drawing/2014/main" id="{221FE1A9-5DD5-0A17-1178-2A68147EF4D4}"/>
              </a:ext>
            </a:extLst>
          </p:cNvPr>
          <p:cNvSpPr txBox="1"/>
          <p:nvPr/>
        </p:nvSpPr>
        <p:spPr>
          <a:xfrm>
            <a:off x="4131343" y="4834531"/>
            <a:ext cx="3929313" cy="400110"/>
          </a:xfrm>
          <a:prstGeom prst="rect">
            <a:avLst/>
          </a:prstGeom>
          <a:noFill/>
        </p:spPr>
        <p:txBody>
          <a:bodyPr wrap="square" rtlCol="0">
            <a:spAutoFit/>
          </a:bodyPr>
          <a:lstStyle/>
          <a:p>
            <a:pPr algn="ctr"/>
            <a:r>
              <a:rPr lang="en-GB" sz="2000" b="1" dirty="0">
                <a:solidFill>
                  <a:prstClr val="black"/>
                </a:solidFill>
                <a:latin typeface="Univers Condensed Light"/>
              </a:rPr>
              <a:t>Future works</a:t>
            </a:r>
          </a:p>
        </p:txBody>
      </p:sp>
      <p:sp>
        <p:nvSpPr>
          <p:cNvPr id="23" name="Rettangolo con angoli arrotondati 22">
            <a:extLst>
              <a:ext uri="{FF2B5EF4-FFF2-40B4-BE49-F238E27FC236}">
                <a16:creationId xmlns:a16="http://schemas.microsoft.com/office/drawing/2014/main" id="{1D8EAFE6-4971-83B1-990A-6841E638B4EC}"/>
              </a:ext>
            </a:extLst>
          </p:cNvPr>
          <p:cNvSpPr/>
          <p:nvPr/>
        </p:nvSpPr>
        <p:spPr>
          <a:xfrm>
            <a:off x="233266" y="3647939"/>
            <a:ext cx="11465396" cy="857396"/>
          </a:xfrm>
          <a:prstGeom prst="roundRect">
            <a:avLst/>
          </a:prstGeom>
          <a:noFill/>
          <a:ln>
            <a:solidFill>
              <a:srgbClr val="822433"/>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ttangolo con angoli arrotondati 23">
            <a:extLst>
              <a:ext uri="{FF2B5EF4-FFF2-40B4-BE49-F238E27FC236}">
                <a16:creationId xmlns:a16="http://schemas.microsoft.com/office/drawing/2014/main" id="{3E765766-F495-18CD-7E0D-B93EACC7AC7B}"/>
              </a:ext>
            </a:extLst>
          </p:cNvPr>
          <p:cNvSpPr/>
          <p:nvPr/>
        </p:nvSpPr>
        <p:spPr>
          <a:xfrm>
            <a:off x="233266" y="5275912"/>
            <a:ext cx="11465396" cy="857396"/>
          </a:xfrm>
          <a:prstGeom prst="roundRect">
            <a:avLst/>
          </a:prstGeom>
          <a:noFill/>
          <a:ln>
            <a:solidFill>
              <a:srgbClr val="822433"/>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98429643"/>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1598</TotalTime>
  <Words>774</Words>
  <Application>Microsoft Office PowerPoint</Application>
  <PresentationFormat>Widescreen</PresentationFormat>
  <Paragraphs>101</Paragraphs>
  <Slides>11</Slides>
  <Notes>0</Notes>
  <HiddenSlides>0</HiddenSlides>
  <MMClips>0</MMClips>
  <ScaleCrop>false</ScaleCrop>
  <HeadingPairs>
    <vt:vector size="6" baseType="variant">
      <vt:variant>
        <vt:lpstr>Caratteri utilizzati</vt:lpstr>
      </vt:variant>
      <vt:variant>
        <vt:i4>6</vt:i4>
      </vt:variant>
      <vt:variant>
        <vt:lpstr>Tema</vt:lpstr>
      </vt:variant>
      <vt:variant>
        <vt:i4>2</vt:i4>
      </vt:variant>
      <vt:variant>
        <vt:lpstr>Titoli diapositive</vt:lpstr>
      </vt:variant>
      <vt:variant>
        <vt:i4>11</vt:i4>
      </vt:variant>
    </vt:vector>
  </HeadingPairs>
  <TitlesOfParts>
    <vt:vector size="19" baseType="lpstr">
      <vt:lpstr>Aptos</vt:lpstr>
      <vt:lpstr>Aptos Display</vt:lpstr>
      <vt:lpstr>Arial</vt:lpstr>
      <vt:lpstr>Bookman Old Style</vt:lpstr>
      <vt:lpstr>Univers Condensed Light</vt:lpstr>
      <vt:lpstr>Walbaum Display Light</vt:lpstr>
      <vt:lpstr>AngleLinesVTI</vt:lpstr>
      <vt:lpstr>Tema di Office</vt:lpstr>
      <vt:lpstr> Hybrid Models for hyperspectral image classification  </vt:lpstr>
      <vt:lpstr>Definition of the task  </vt:lpstr>
      <vt:lpstr>Dataset  </vt:lpstr>
      <vt:lpstr>Model Overview  </vt:lpstr>
      <vt:lpstr>Sample amplification  </vt:lpstr>
      <vt:lpstr>CT Block  </vt:lpstr>
      <vt:lpstr>Channel-Spatial Attention  </vt:lpstr>
      <vt:lpstr>Experiments  </vt:lpstr>
      <vt:lpstr>Results  </vt:lpstr>
      <vt:lpstr>Results  </vt:lpstr>
      <vt:lpstr>Conclusions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samuele tomassacci</dc:creator>
  <cp:lastModifiedBy>samuele tomassacci</cp:lastModifiedBy>
  <cp:revision>12</cp:revision>
  <dcterms:created xsi:type="dcterms:W3CDTF">2025-12-12T16:17:53Z</dcterms:created>
  <dcterms:modified xsi:type="dcterms:W3CDTF">2026-02-03T11:53:32Z</dcterms:modified>
</cp:coreProperties>
</file>